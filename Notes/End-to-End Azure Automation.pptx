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92" r:id="rId5"/>
    <p:sldId id="299" r:id="rId6"/>
    <p:sldId id="297" r:id="rId7"/>
    <p:sldId id="261" r:id="rId8"/>
    <p:sldId id="302" r:id="rId9"/>
    <p:sldId id="303" r:id="rId10"/>
    <p:sldId id="304" r:id="rId11"/>
    <p:sldId id="279" r:id="rId12"/>
    <p:sldId id="276" r:id="rId13"/>
    <p:sldId id="307" r:id="rId14"/>
    <p:sldId id="305" r:id="rId15"/>
    <p:sldId id="306" r:id="rId16"/>
    <p:sldId id="28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1525" autoAdjust="0"/>
  </p:normalViewPr>
  <p:slideViewPr>
    <p:cSldViewPr snapToGrid="0" showGuides="1">
      <p:cViewPr varScale="1">
        <p:scale>
          <a:sx n="68" d="100"/>
          <a:sy n="68" d="100"/>
        </p:scale>
        <p:origin x="1219" y="62"/>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defRPr b="1"/>
          </a:pPr>
          <a:r>
            <a:rPr lang="en-US" dirty="0">
              <a:solidFill>
                <a:schemeClr val="accent2">
                  <a:lumMod val="60000"/>
                  <a:lumOff val="40000"/>
                </a:schemeClr>
              </a:solidFill>
              <a:latin typeface="+mn-lt"/>
            </a:rPr>
            <a:t>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r>
            <a:rPr lang="en-US" sz="1800" dirty="0">
              <a:latin typeface="+mn-lt"/>
            </a:rPr>
            <a:t> </a:t>
          </a:r>
          <a:r>
            <a:rPr lang="en-IN" sz="1800" b="0" i="0" dirty="0"/>
            <a:t>Azure Login (OIDC).</a:t>
          </a:r>
          <a:endParaRPr lang="en-US" sz="1800" dirty="0">
            <a:latin typeface="+mn-lt"/>
          </a:endParaRP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defRPr b="1"/>
          </a:pPr>
          <a:r>
            <a:rPr lang="en-US" dirty="0">
              <a:solidFill>
                <a:schemeClr val="accent2">
                  <a:lumMod val="60000"/>
                  <a:lumOff val="40000"/>
                </a:schemeClr>
              </a:solidFill>
              <a:latin typeface="+mn-lt"/>
            </a:rPr>
            <a:t>3</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r>
            <a:rPr lang="en-IN" sz="1800" b="0" i="0" dirty="0"/>
            <a:t>Checkout Code</a:t>
          </a:r>
          <a:endParaRPr lang="en-US" sz="1800" dirty="0">
            <a:latin typeface="+mn-lt"/>
          </a:endParaRP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defRPr b="1"/>
          </a:pPr>
          <a:r>
            <a:rPr lang="en-US" dirty="0">
              <a:solidFill>
                <a:schemeClr val="accent2">
                  <a:lumMod val="60000"/>
                  <a:lumOff val="40000"/>
                </a:schemeClr>
              </a:solidFill>
              <a:latin typeface="+mn-lt"/>
            </a:rPr>
            <a:t>4</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5394037C-F17C-4D42-98FB-1684D97AF3B6}">
      <dgm:prSet phldrT="[Text]" phldr="0" custT="1"/>
      <dgm:spPr/>
      <dgm:t>
        <a:bodyPr/>
        <a:lstStyle/>
        <a:p>
          <a:pPr>
            <a:defRPr b="1"/>
          </a:pPr>
          <a:r>
            <a:rPr lang="en-US" sz="1800" dirty="0">
              <a:solidFill>
                <a:srgbClr val="FF0000"/>
              </a:solidFill>
              <a:latin typeface="+mn-lt"/>
            </a:rPr>
            <a:t>5</a:t>
          </a:r>
        </a:p>
      </dgm:t>
    </dgm:pt>
    <dgm:pt modelId="{0FAF0653-3C30-40E3-A864-67B66489C377}" type="parTrans" cxnId="{A54147F7-6CC2-4BEC-B010-185C690681D0}">
      <dgm:prSet/>
      <dgm:spPr/>
      <dgm:t>
        <a:bodyPr/>
        <a:lstStyle/>
        <a:p>
          <a:endParaRPr lang="en-IN"/>
        </a:p>
      </dgm:t>
    </dgm:pt>
    <dgm:pt modelId="{854B47AE-A052-44E8-9F8E-F47A306B26E9}" type="sibTrans" cxnId="{A54147F7-6CC2-4BEC-B010-185C690681D0}">
      <dgm:prSet/>
      <dgm:spPr/>
      <dgm:t>
        <a:bodyPr/>
        <a:lstStyle/>
        <a:p>
          <a:endParaRPr lang="en-IN"/>
        </a:p>
      </dgm:t>
    </dgm:pt>
    <dgm:pt modelId="{462E97D6-2E9E-40DC-AA84-AB3DE9E3C289}">
      <dgm:prSet phldrT="[Text]" phldr="0" custT="1"/>
      <dgm:spPr/>
      <dgm:t>
        <a:bodyPr/>
        <a:lstStyle/>
        <a:p>
          <a:r>
            <a:rPr lang="en-IN" sz="1800" b="0" i="0" dirty="0"/>
            <a:t>Deploy Code (Zip Deploy)</a:t>
          </a:r>
          <a:endParaRPr lang="en-US" sz="1800" dirty="0">
            <a:latin typeface="+mn-lt"/>
          </a:endParaRPr>
        </a:p>
      </dgm:t>
    </dgm:pt>
    <dgm:pt modelId="{1F5E7743-9016-49A7-9433-7ED58F69629F}" type="parTrans" cxnId="{1A40668F-8D11-44CB-AE64-308667FCE86C}">
      <dgm:prSet/>
      <dgm:spPr/>
      <dgm:t>
        <a:bodyPr/>
        <a:lstStyle/>
        <a:p>
          <a:endParaRPr lang="en-IN"/>
        </a:p>
      </dgm:t>
    </dgm:pt>
    <dgm:pt modelId="{CBA9162B-02A2-493F-ABB2-BD66C490E912}" type="sibTrans" cxnId="{1A40668F-8D11-44CB-AE64-308667FCE86C}">
      <dgm:prSet/>
      <dgm:spPr/>
      <dgm:t>
        <a:bodyPr/>
        <a:lstStyle/>
        <a:p>
          <a:endParaRPr lang="en-IN"/>
        </a:p>
      </dgm:t>
    </dgm:pt>
    <dgm:pt modelId="{7BB211BC-78BC-4759-866B-3F079E49AD40}">
      <dgm:prSet phldrT="[Text]" phldr="0"/>
      <dgm:spPr/>
      <dgm:t>
        <a:bodyPr/>
        <a:lstStyle/>
        <a:p>
          <a:r>
            <a:rPr lang="en-IN" b="0" i="0" dirty="0"/>
            <a:t>Build (Angular/SQL DACPAC).</a:t>
          </a:r>
          <a:endParaRPr lang="en-US" dirty="0">
            <a:solidFill>
              <a:schemeClr val="accent2">
                <a:lumMod val="60000"/>
                <a:lumOff val="40000"/>
              </a:schemeClr>
            </a:solidFill>
            <a:latin typeface="+mn-lt"/>
          </a:endParaRPr>
        </a:p>
      </dgm:t>
    </dgm:pt>
    <dgm:pt modelId="{552481C7-E22D-4C11-BC96-8DD977B3AEE1}" type="parTrans" cxnId="{920F991B-A601-4D5D-B50E-5E2DA5645AEB}">
      <dgm:prSet/>
      <dgm:spPr/>
      <dgm:t>
        <a:bodyPr/>
        <a:lstStyle/>
        <a:p>
          <a:endParaRPr lang="en-IN"/>
        </a:p>
      </dgm:t>
    </dgm:pt>
    <dgm:pt modelId="{B34D63D9-63A6-45F4-B4CD-BF7B6C1C4BFC}" type="sibTrans" cxnId="{920F991B-A601-4D5D-B50E-5E2DA5645AEB}">
      <dgm:prSet/>
      <dgm:spPr/>
      <dgm:t>
        <a:bodyPr/>
        <a:lstStyle/>
        <a:p>
          <a:endParaRPr lang="en-IN"/>
        </a:p>
      </dgm:t>
    </dgm:pt>
    <dgm:pt modelId="{3CC6C7A6-1D06-4C5B-BDCF-EB053DDA2031}">
      <dgm:prSet phldrT="[Text]" phldr="0" custT="1"/>
      <dgm:spPr/>
      <dgm:t>
        <a:bodyPr/>
        <a:lstStyle/>
        <a:p>
          <a:pPr>
            <a:defRPr b="1"/>
          </a:pPr>
          <a:r>
            <a:rPr lang="en-US" sz="1800" dirty="0">
              <a:solidFill>
                <a:schemeClr val="accent2">
                  <a:lumMod val="60000"/>
                  <a:lumOff val="40000"/>
                </a:schemeClr>
              </a:solidFill>
              <a:latin typeface="+mn-lt"/>
            </a:rPr>
            <a:t>2</a:t>
          </a:r>
        </a:p>
      </dgm:t>
    </dgm:pt>
    <dgm:pt modelId="{1EE21CF9-3687-4D4F-BD23-5F1CCD31D7E2}" type="parTrans" cxnId="{E80EFAE4-62CD-48C7-A507-B8D274839938}">
      <dgm:prSet/>
      <dgm:spPr/>
      <dgm:t>
        <a:bodyPr/>
        <a:lstStyle/>
        <a:p>
          <a:endParaRPr lang="en-IN"/>
        </a:p>
      </dgm:t>
    </dgm:pt>
    <dgm:pt modelId="{80947380-E5F5-4C44-9FE0-7E3971D7AEA1}" type="sibTrans" cxnId="{E80EFAE4-62CD-48C7-A507-B8D274839938}">
      <dgm:prSet/>
      <dgm:spPr/>
      <dgm:t>
        <a:bodyPr/>
        <a:lstStyle/>
        <a:p>
          <a:endParaRPr lang="en-IN"/>
        </a:p>
      </dgm:t>
    </dgm:pt>
    <dgm:pt modelId="{8F441664-B5FE-4721-BC60-96E6D711A128}">
      <dgm:prSet phldrT="[Text]" phldr="0"/>
      <dgm:spPr/>
      <dgm:t>
        <a:bodyPr/>
        <a:lstStyle/>
        <a:p>
          <a:r>
            <a:rPr lang="en-IN" b="0" i="0" dirty="0"/>
            <a:t>Deploy Bicep (</a:t>
          </a:r>
          <a:r>
            <a:rPr lang="en-IN" b="0" i="0" dirty="0" err="1"/>
            <a:t>IaC</a:t>
          </a:r>
          <a:r>
            <a:rPr lang="en-IN" b="0" i="0" dirty="0"/>
            <a:t>) </a:t>
          </a:r>
          <a:endParaRPr lang="en-US" dirty="0">
            <a:latin typeface="+mn-lt"/>
          </a:endParaRPr>
        </a:p>
      </dgm:t>
    </dgm:pt>
    <dgm:pt modelId="{9A654E93-47A6-4E79-984B-06E4FBB6C227}" type="parTrans" cxnId="{712692E2-C299-461F-9C08-8202B766F300}">
      <dgm:prSet/>
      <dgm:spPr/>
      <dgm:t>
        <a:bodyPr/>
        <a:lstStyle/>
        <a:p>
          <a:endParaRPr lang="en-IN"/>
        </a:p>
      </dgm:t>
    </dgm:pt>
    <dgm:pt modelId="{294783E3-6813-446B-A78B-450D86521052}" type="sibTrans" cxnId="{712692E2-C299-461F-9C08-8202B766F300}">
      <dgm:prSet/>
      <dgm:spPr/>
      <dgm:t>
        <a:bodyPr/>
        <a:lstStyle/>
        <a:p>
          <a:endParaRPr lang="en-IN"/>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5">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5"/>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5"/>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5"/>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05C80162-AA07-463A-B20A-C153A04441FC}" type="pres">
      <dgm:prSet presAssocID="{3CC6C7A6-1D06-4C5B-BDCF-EB053DDA2031}" presName="composite" presStyleCnt="0"/>
      <dgm:spPr/>
    </dgm:pt>
    <dgm:pt modelId="{74B680B0-52DB-4443-9CBF-441A21319A5A}" type="pres">
      <dgm:prSet presAssocID="{3CC6C7A6-1D06-4C5B-BDCF-EB053DDA2031}" presName="L1TextContainer" presStyleLbl="revTx" presStyleIdx="1" presStyleCnt="5">
        <dgm:presLayoutVars>
          <dgm:chMax val="1"/>
          <dgm:chPref val="1"/>
          <dgm:bulletEnabled val="1"/>
        </dgm:presLayoutVars>
      </dgm:prSet>
      <dgm:spPr/>
    </dgm:pt>
    <dgm:pt modelId="{4A132DFA-674E-4832-9E63-53EBF77D6202}" type="pres">
      <dgm:prSet presAssocID="{3CC6C7A6-1D06-4C5B-BDCF-EB053DDA2031}" presName="L2TextContainerWrapper" presStyleCnt="0">
        <dgm:presLayoutVars>
          <dgm:chMax val="0"/>
          <dgm:chPref val="0"/>
          <dgm:bulletEnabled val="1"/>
        </dgm:presLayoutVars>
      </dgm:prSet>
      <dgm:spPr/>
    </dgm:pt>
    <dgm:pt modelId="{8AD27D39-5160-421F-B479-13F7D6F0B970}" type="pres">
      <dgm:prSet presAssocID="{3CC6C7A6-1D06-4C5B-BDCF-EB053DDA2031}" presName="L2TextContainer" presStyleLbl="bgAcc1" presStyleIdx="1" presStyleCnt="5"/>
      <dgm:spPr/>
    </dgm:pt>
    <dgm:pt modelId="{50B23A6F-799A-46E0-8544-270084377FF4}" type="pres">
      <dgm:prSet presAssocID="{3CC6C7A6-1D06-4C5B-BDCF-EB053DDA2031}" presName="FlexibleEmptyPlaceHolder" presStyleCnt="0"/>
      <dgm:spPr/>
    </dgm:pt>
    <dgm:pt modelId="{53120BE5-D04A-4F71-A409-5B5EFCB1CF7A}" type="pres">
      <dgm:prSet presAssocID="{3CC6C7A6-1D06-4C5B-BDCF-EB053DDA2031}" presName="ConnectLine" presStyleLbl="sibTrans1D1" presStyleIdx="1" presStyleCnt="5"/>
      <dgm:spPr>
        <a:noFill/>
        <a:ln w="6350" cap="flat" cmpd="sng" algn="ctr">
          <a:solidFill>
            <a:schemeClr val="accent2">
              <a:hueOff val="0"/>
              <a:satOff val="0"/>
              <a:lumOff val="0"/>
              <a:alphaOff val="0"/>
            </a:schemeClr>
          </a:solidFill>
          <a:prstDash val="dash"/>
          <a:miter lim="800000"/>
        </a:ln>
        <a:effectLst/>
      </dgm:spPr>
    </dgm:pt>
    <dgm:pt modelId="{10581EB4-AD6B-40A1-9230-73D08C91AF8A}" type="pres">
      <dgm:prSet presAssocID="{3CC6C7A6-1D06-4C5B-BDCF-EB053DDA2031}" presName="ConnectorPoint" presStyleLbl="alignNode1" presStyleIdx="1" presStyleCnt="5"/>
      <dgm:spPr/>
    </dgm:pt>
    <dgm:pt modelId="{0934687F-0244-4CCE-A42A-86226DFFEE3A}" type="pres">
      <dgm:prSet presAssocID="{3CC6C7A6-1D06-4C5B-BDCF-EB053DDA2031}" presName="EmptyPlaceHolder" presStyleCnt="0"/>
      <dgm:spPr/>
    </dgm:pt>
    <dgm:pt modelId="{9B62CAB9-BB66-4F1D-B41C-087922810940}" type="pres">
      <dgm:prSet presAssocID="{80947380-E5F5-4C44-9FE0-7E3971D7AEA1}"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2" presStyleCnt="5">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2" presStyleCnt="5"/>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2" presStyleCnt="5"/>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2" presStyleCnt="5"/>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3" presStyleCnt="5">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3" presStyleCnt="5"/>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3" presStyleCnt="5"/>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3" presStyleCnt="5"/>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39F50615-2158-4D6C-92D0-B04AB37AABBA}" type="pres">
      <dgm:prSet presAssocID="{5394037C-F17C-4D42-98FB-1684D97AF3B6}" presName="composite" presStyleCnt="0"/>
      <dgm:spPr/>
    </dgm:pt>
    <dgm:pt modelId="{445DCE05-C706-4E65-ABD2-5D998A989C0C}" type="pres">
      <dgm:prSet presAssocID="{5394037C-F17C-4D42-98FB-1684D97AF3B6}" presName="L1TextContainer" presStyleLbl="revTx" presStyleIdx="4" presStyleCnt="5" custScaleY="90462">
        <dgm:presLayoutVars>
          <dgm:chMax val="1"/>
          <dgm:chPref val="1"/>
          <dgm:bulletEnabled val="1"/>
        </dgm:presLayoutVars>
      </dgm:prSet>
      <dgm:spPr/>
    </dgm:pt>
    <dgm:pt modelId="{ABA3C882-0420-4A9A-B232-9FE79D504553}" type="pres">
      <dgm:prSet presAssocID="{5394037C-F17C-4D42-98FB-1684D97AF3B6}" presName="L2TextContainerWrapper" presStyleCnt="0">
        <dgm:presLayoutVars>
          <dgm:chMax val="0"/>
          <dgm:chPref val="0"/>
          <dgm:bulletEnabled val="1"/>
        </dgm:presLayoutVars>
      </dgm:prSet>
      <dgm:spPr/>
    </dgm:pt>
    <dgm:pt modelId="{8A28172A-A218-403F-BE97-0F799EDA981E}" type="pres">
      <dgm:prSet presAssocID="{5394037C-F17C-4D42-98FB-1684D97AF3B6}" presName="L2TextContainer" presStyleLbl="bgAcc1" presStyleIdx="4" presStyleCnt="5"/>
      <dgm:spPr/>
    </dgm:pt>
    <dgm:pt modelId="{96A36499-58E4-4750-8280-740F99DBBC1A}" type="pres">
      <dgm:prSet presAssocID="{5394037C-F17C-4D42-98FB-1684D97AF3B6}" presName="FlexibleEmptyPlaceHolder" presStyleCnt="0"/>
      <dgm:spPr/>
    </dgm:pt>
    <dgm:pt modelId="{55BE8B83-6E70-4AE1-8D13-354A9A109976}" type="pres">
      <dgm:prSet presAssocID="{5394037C-F17C-4D42-98FB-1684D97AF3B6}" presName="ConnectLine" presStyleLbl="sibTrans1D1" presStyleIdx="4" presStyleCnt="5"/>
      <dgm:spPr>
        <a:noFill/>
        <a:ln w="6350" cap="flat" cmpd="sng" algn="ctr">
          <a:solidFill>
            <a:schemeClr val="accent2">
              <a:hueOff val="0"/>
              <a:satOff val="0"/>
              <a:lumOff val="0"/>
              <a:alphaOff val="0"/>
            </a:schemeClr>
          </a:solidFill>
          <a:prstDash val="dash"/>
          <a:miter lim="800000"/>
        </a:ln>
        <a:effectLst/>
      </dgm:spPr>
    </dgm:pt>
    <dgm:pt modelId="{B5D434E7-54CC-40AA-98FC-C15E12A83951}" type="pres">
      <dgm:prSet presAssocID="{5394037C-F17C-4D42-98FB-1684D97AF3B6}" presName="ConnectorPoint" presStyleLbl="alignNode1" presStyleIdx="4" presStyleCnt="5"/>
      <dgm:spPr/>
    </dgm:pt>
    <dgm:pt modelId="{311742E6-A902-43B5-8EDC-0FA34D77868D}" type="pres">
      <dgm:prSet presAssocID="{5394037C-F17C-4D42-98FB-1684D97AF3B6}" presName="EmptyPlaceHolder" presStyleCnt="0"/>
      <dgm:spPr/>
    </dgm:pt>
  </dgm:ptLst>
  <dgm:cxnLst>
    <dgm:cxn modelId="{64516513-C9B3-4B52-A434-6178ACAB3599}" type="presOf" srcId="{91969DED-4CB8-4A14-A50B-3F7B848E46B5}" destId="{60D0713D-AF69-4AF8-B071-F65622790886}" srcOrd="0" destOrd="0" presId="urn:microsoft.com/office/officeart/2016/7/layout/BasicTimeline"/>
    <dgm:cxn modelId="{920F991B-A601-4D5D-B50E-5E2DA5645AEB}" srcId="{3CC73758-10C1-47F8-AFA7-1A986D4DDD60}" destId="{7BB211BC-78BC-4759-866B-3F079E49AD40}" srcOrd="0" destOrd="0" parTransId="{552481C7-E22D-4C11-BC96-8DD977B3AEE1}" sibTransId="{B34D63D9-63A6-45F4-B4CD-BF7B6C1C4BFC}"/>
    <dgm:cxn modelId="{4A69F85D-5C15-48FD-893A-B3050E1BADEB}" srcId="{A66480AC-C0DE-4E5E-9ECD-9AE37E3FCB79}" destId="{3CC73758-10C1-47F8-AFA7-1A986D4DDD60}" srcOrd="3"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1A40668F-8D11-44CB-AE64-308667FCE86C}" srcId="{5394037C-F17C-4D42-98FB-1684D97AF3B6}" destId="{462E97D6-2E9E-40DC-AA84-AB3DE9E3C289}" srcOrd="0" destOrd="0" parTransId="{1F5E7743-9016-49A7-9433-7ED58F69629F}" sibTransId="{CBA9162B-02A2-493F-ABB2-BD66C490E912}"/>
    <dgm:cxn modelId="{E5C7B693-D4EE-4A4E-97D1-4621CA0D3E91}" type="presOf" srcId="{A8C03FBB-4A75-4460-AEA6-DEAEB9C61496}" destId="{FE5C7F33-9326-49FB-89A3-8A20163AD994}" srcOrd="0" destOrd="0" presId="urn:microsoft.com/office/officeart/2016/7/layout/BasicTimeline"/>
    <dgm:cxn modelId="{89877D95-728B-4268-B6BF-73F882893F4C}" type="presOf" srcId="{8F441664-B5FE-4721-BC60-96E6D711A128}" destId="{8AD27D39-5160-421F-B479-13F7D6F0B970}" srcOrd="0" destOrd="0" presId="urn:microsoft.com/office/officeart/2016/7/layout/BasicTimeline"/>
    <dgm:cxn modelId="{0CD107A0-7808-4E20-AF5C-76392ABFFADA}" type="presOf" srcId="{462E97D6-2E9E-40DC-AA84-AB3DE9E3C289}" destId="{8A28172A-A218-403F-BE97-0F799EDA981E}" srcOrd="0" destOrd="0" presId="urn:microsoft.com/office/officeart/2016/7/layout/BasicTimeline"/>
    <dgm:cxn modelId="{4CE397A6-DB48-4AAE-BCFB-3D992789379D}" type="presOf" srcId="{5E71F362-34DF-4EEC-92A3-0EFE450E05E4}" destId="{BA29120C-7C6B-4F62-9079-4AD528BC0744}" srcOrd="0" destOrd="0" presId="urn:microsoft.com/office/officeart/2016/7/layout/BasicTimeline"/>
    <dgm:cxn modelId="{A24FB5A7-9FD9-4785-B1E2-705624EF857C}" type="presOf" srcId="{3CC6C7A6-1D06-4C5B-BDCF-EB053DDA2031}" destId="{74B680B0-52DB-4443-9CBF-441A21319A5A}"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2" destOrd="0" parTransId="{441CD73D-85E1-42A6-BCF8-362A3247E2F3}" sibTransId="{81CA8AA2-C0C3-4381-BA8B-413EDD578B83}"/>
    <dgm:cxn modelId="{712692E2-C299-461F-9C08-8202B766F300}" srcId="{3CC6C7A6-1D06-4C5B-BDCF-EB053DDA2031}" destId="{8F441664-B5FE-4721-BC60-96E6D711A128}" srcOrd="0" destOrd="0" parTransId="{9A654E93-47A6-4E79-984B-06E4FBB6C227}" sibTransId="{294783E3-6813-446B-A78B-450D86521052}"/>
    <dgm:cxn modelId="{E80EFAE4-62CD-48C7-A507-B8D274839938}" srcId="{A66480AC-C0DE-4E5E-9ECD-9AE37E3FCB79}" destId="{3CC6C7A6-1D06-4C5B-BDCF-EB053DDA2031}" srcOrd="1" destOrd="0" parTransId="{1EE21CF9-3687-4D4F-BD23-5F1CCD31D7E2}" sibTransId="{80947380-E5F5-4C44-9FE0-7E3971D7AEA1}"/>
    <dgm:cxn modelId="{591D3FE8-482C-4144-BD2C-8C3986E47588}" type="presOf" srcId="{7BB211BC-78BC-4759-866B-3F079E49AD40}" destId="{E0D48281-565D-47A3-9B6C-576231178549}" srcOrd="0" destOrd="0" presId="urn:microsoft.com/office/officeart/2016/7/layout/BasicTimeline"/>
    <dgm:cxn modelId="{403E30EA-CA23-4A5A-9D22-DF82F93CFF08}" type="presOf" srcId="{A66480AC-C0DE-4E5E-9ECD-9AE37E3FCB79}" destId="{9FFA803F-EA25-49D8-A073-96E9747E345F}" srcOrd="0" destOrd="0" presId="urn:microsoft.com/office/officeart/2016/7/layout/BasicTimeline"/>
    <dgm:cxn modelId="{FB1D27F4-2623-428B-9FDE-FC53F110E28F}" type="presOf" srcId="{5394037C-F17C-4D42-98FB-1684D97AF3B6}" destId="{445DCE05-C706-4E65-ABD2-5D998A989C0C}"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A54147F7-6CC2-4BEC-B010-185C690681D0}" srcId="{A66480AC-C0DE-4E5E-9ECD-9AE37E3FCB79}" destId="{5394037C-F17C-4D42-98FB-1684D97AF3B6}" srcOrd="4" destOrd="0" parTransId="{0FAF0653-3C30-40E3-A864-67B66489C377}" sibTransId="{854B47AE-A052-44E8-9F8E-F47A306B26E9}"/>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0229C200-D045-4862-9AC3-BE3F4A93B6E5}" type="presParOf" srcId="{BDA8F949-88B8-486D-9E41-ABA1463A8926}" destId="{05C80162-AA07-463A-B20A-C153A04441FC}" srcOrd="2" destOrd="0" presId="urn:microsoft.com/office/officeart/2016/7/layout/BasicTimeline"/>
    <dgm:cxn modelId="{FC48A598-2D9B-4BF8-9150-401EA8EC6F2E}" type="presParOf" srcId="{05C80162-AA07-463A-B20A-C153A04441FC}" destId="{74B680B0-52DB-4443-9CBF-441A21319A5A}" srcOrd="0" destOrd="0" presId="urn:microsoft.com/office/officeart/2016/7/layout/BasicTimeline"/>
    <dgm:cxn modelId="{1BBE9D7A-878C-46C5-BE3D-71925BE2D545}" type="presParOf" srcId="{05C80162-AA07-463A-B20A-C153A04441FC}" destId="{4A132DFA-674E-4832-9E63-53EBF77D6202}" srcOrd="1" destOrd="0" presId="urn:microsoft.com/office/officeart/2016/7/layout/BasicTimeline"/>
    <dgm:cxn modelId="{58E4786D-02AB-4936-B5F5-9E80510B67CA}" type="presParOf" srcId="{4A132DFA-674E-4832-9E63-53EBF77D6202}" destId="{8AD27D39-5160-421F-B479-13F7D6F0B970}" srcOrd="0" destOrd="0" presId="urn:microsoft.com/office/officeart/2016/7/layout/BasicTimeline"/>
    <dgm:cxn modelId="{AB2BFBD7-D383-4755-AE6F-32270A5C3A15}" type="presParOf" srcId="{4A132DFA-674E-4832-9E63-53EBF77D6202}" destId="{50B23A6F-799A-46E0-8544-270084377FF4}" srcOrd="1" destOrd="0" presId="urn:microsoft.com/office/officeart/2016/7/layout/BasicTimeline"/>
    <dgm:cxn modelId="{99D8AA8C-12FE-4F50-B4EA-E0C8D7074E24}" type="presParOf" srcId="{05C80162-AA07-463A-B20A-C153A04441FC}" destId="{53120BE5-D04A-4F71-A409-5B5EFCB1CF7A}" srcOrd="2" destOrd="0" presId="urn:microsoft.com/office/officeart/2016/7/layout/BasicTimeline"/>
    <dgm:cxn modelId="{F3FC88CB-0D1D-4DA5-8FC6-14D0A3C5ECFF}" type="presParOf" srcId="{05C80162-AA07-463A-B20A-C153A04441FC}" destId="{10581EB4-AD6B-40A1-9230-73D08C91AF8A}" srcOrd="3" destOrd="0" presId="urn:microsoft.com/office/officeart/2016/7/layout/BasicTimeline"/>
    <dgm:cxn modelId="{0DB21AA8-B9DC-4F11-BE00-D9CFBBCADBFD}" type="presParOf" srcId="{05C80162-AA07-463A-B20A-C153A04441FC}" destId="{0934687F-0244-4CCE-A42A-86226DFFEE3A}" srcOrd="4" destOrd="0" presId="urn:microsoft.com/office/officeart/2016/7/layout/BasicTimeline"/>
    <dgm:cxn modelId="{3345D61A-35A8-4275-ACB8-5BD29951BB24}" type="presParOf" srcId="{BDA8F949-88B8-486D-9E41-ABA1463A8926}" destId="{9B62CAB9-BB66-4F1D-B41C-087922810940}" srcOrd="3" destOrd="0" presId="urn:microsoft.com/office/officeart/2016/7/layout/BasicTimeline"/>
    <dgm:cxn modelId="{7935889E-4736-4C7F-8622-A330C126F16B}" type="presParOf" srcId="{BDA8F949-88B8-486D-9E41-ABA1463A8926}" destId="{7D29DFA7-018B-45C9-AC1C-5CFC82FEE150}" srcOrd="4"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5" destOrd="0" presId="urn:microsoft.com/office/officeart/2016/7/layout/BasicTimeline"/>
    <dgm:cxn modelId="{3411521A-E802-4A42-B7EC-D46E6B3B7C96}" type="presParOf" srcId="{BDA8F949-88B8-486D-9E41-ABA1463A8926}" destId="{76CB18D4-86E2-467C-A2CF-3ED9EFE66BEA}" srcOrd="6"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7" destOrd="0" presId="urn:microsoft.com/office/officeart/2016/7/layout/BasicTimeline"/>
    <dgm:cxn modelId="{B6A5AA25-A73E-4687-90AC-ED5D271ACDB3}" type="presParOf" srcId="{BDA8F949-88B8-486D-9E41-ABA1463A8926}" destId="{39F50615-2158-4D6C-92D0-B04AB37AABBA}" srcOrd="8" destOrd="0" presId="urn:microsoft.com/office/officeart/2016/7/layout/BasicTimeline"/>
    <dgm:cxn modelId="{3283E3CE-E973-449B-A165-2A2F9D037B50}" type="presParOf" srcId="{39F50615-2158-4D6C-92D0-B04AB37AABBA}" destId="{445DCE05-C706-4E65-ABD2-5D998A989C0C}" srcOrd="0" destOrd="0" presId="urn:microsoft.com/office/officeart/2016/7/layout/BasicTimeline"/>
    <dgm:cxn modelId="{5B4A4AFB-B25E-40B1-8E52-38A03746C493}" type="presParOf" srcId="{39F50615-2158-4D6C-92D0-B04AB37AABBA}" destId="{ABA3C882-0420-4A9A-B232-9FE79D504553}" srcOrd="1" destOrd="0" presId="urn:microsoft.com/office/officeart/2016/7/layout/BasicTimeline"/>
    <dgm:cxn modelId="{7CA11861-D8CF-40BD-8A60-42B7E681BBA5}" type="presParOf" srcId="{ABA3C882-0420-4A9A-B232-9FE79D504553}" destId="{8A28172A-A218-403F-BE97-0F799EDA981E}" srcOrd="0" destOrd="0" presId="urn:microsoft.com/office/officeart/2016/7/layout/BasicTimeline"/>
    <dgm:cxn modelId="{C05B5B30-0085-4A83-B59A-2D4A8E906DCF}" type="presParOf" srcId="{ABA3C882-0420-4A9A-B232-9FE79D504553}" destId="{96A36499-58E4-4750-8280-740F99DBBC1A}" srcOrd="1" destOrd="0" presId="urn:microsoft.com/office/officeart/2016/7/layout/BasicTimeline"/>
    <dgm:cxn modelId="{37BAF3C0-FD52-4776-AF58-4343916989FE}" type="presParOf" srcId="{39F50615-2158-4D6C-92D0-B04AB37AABBA}" destId="{55BE8B83-6E70-4AE1-8D13-354A9A109976}" srcOrd="2" destOrd="0" presId="urn:microsoft.com/office/officeart/2016/7/layout/BasicTimeline"/>
    <dgm:cxn modelId="{676D0FD9-DFDA-4EF3-B15E-EC48D82C21C0}" type="presParOf" srcId="{39F50615-2158-4D6C-92D0-B04AB37AABBA}" destId="{B5D434E7-54CC-40AA-98FC-C15E12A83951}" srcOrd="3" destOrd="0" presId="urn:microsoft.com/office/officeart/2016/7/layout/BasicTimeline"/>
    <dgm:cxn modelId="{4C90CF27-26C3-4D94-A0BA-F65A52BA112F}" type="presParOf" srcId="{39F50615-2158-4D6C-92D0-B04AB37AABBA}" destId="{311742E6-A902-43B5-8EDC-0FA34D77868D}"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56537" y="2027215"/>
          <a:ext cx="2209786"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11200">
            <a:lnSpc>
              <a:spcPct val="90000"/>
            </a:lnSpc>
            <a:spcBef>
              <a:spcPct val="0"/>
            </a:spcBef>
            <a:spcAft>
              <a:spcPct val="35000"/>
            </a:spcAft>
            <a:buNone/>
            <a:defRPr b="1"/>
          </a:pPr>
          <a:r>
            <a:rPr lang="en-US" sz="1600" kern="1200" dirty="0">
              <a:solidFill>
                <a:schemeClr val="accent2">
                  <a:lumMod val="60000"/>
                  <a:lumOff val="40000"/>
                </a:schemeClr>
              </a:solidFill>
              <a:latin typeface="+mn-lt"/>
            </a:rPr>
            <a:t>1</a:t>
          </a:r>
        </a:p>
      </dsp:txBody>
      <dsp:txXfrm>
        <a:off x="156537" y="2027215"/>
        <a:ext cx="2209786" cy="426583"/>
      </dsp:txXfrm>
    </dsp:sp>
    <dsp:sp modelId="{BA29120C-7C6B-4F62-9079-4AD528BC0744}">
      <dsp:nvSpPr>
        <dsp:cNvPr id="0" name=""/>
        <dsp:cNvSpPr/>
      </dsp:nvSpPr>
      <dsp:spPr>
        <a:xfrm>
          <a:off x="5870" y="526622"/>
          <a:ext cx="2511121"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 </a:t>
          </a:r>
          <a:r>
            <a:rPr lang="en-IN" sz="1800" b="0" i="0" kern="1200" dirty="0"/>
            <a:t>Azure Login (OIDC).</a:t>
          </a:r>
          <a:endParaRPr lang="en-US" sz="1800" kern="1200" dirty="0">
            <a:latin typeface="+mn-lt"/>
          </a:endParaRPr>
        </a:p>
      </dsp:txBody>
      <dsp:txXfrm>
        <a:off x="37290" y="558042"/>
        <a:ext cx="2448281" cy="580810"/>
      </dsp:txXfrm>
    </dsp:sp>
    <dsp:sp modelId="{A95DB80B-444A-4D69-B205-3A801BB8524A}">
      <dsp:nvSpPr>
        <dsp:cNvPr id="0" name=""/>
        <dsp:cNvSpPr/>
      </dsp:nvSpPr>
      <dsp:spPr>
        <a:xfrm>
          <a:off x="1261430"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4B680B0-52DB-4443-9CBF-441A21319A5A}">
      <dsp:nvSpPr>
        <dsp:cNvPr id="0" name=""/>
        <dsp:cNvSpPr/>
      </dsp:nvSpPr>
      <dsp:spPr>
        <a:xfrm>
          <a:off x="1612987" y="1321276"/>
          <a:ext cx="2209786"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kern="1200" dirty="0">
              <a:solidFill>
                <a:schemeClr val="accent2">
                  <a:lumMod val="60000"/>
                  <a:lumOff val="40000"/>
                </a:schemeClr>
              </a:solidFill>
              <a:latin typeface="+mn-lt"/>
            </a:rPr>
            <a:t>2</a:t>
          </a:r>
        </a:p>
      </dsp:txBody>
      <dsp:txXfrm>
        <a:off x="1612987" y="1321276"/>
        <a:ext cx="2209786" cy="426583"/>
      </dsp:txXfrm>
    </dsp:sp>
    <dsp:sp modelId="{FA19A0AA-8B0B-4AA8-A80D-08CFFDD3F112}">
      <dsp:nvSpPr>
        <dsp:cNvPr id="0" name=""/>
        <dsp:cNvSpPr/>
      </dsp:nvSpPr>
      <dsp:spPr>
        <a:xfrm>
          <a:off x="1233117"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D27D39-5160-421F-B479-13F7D6F0B970}">
      <dsp:nvSpPr>
        <dsp:cNvPr id="0" name=""/>
        <dsp:cNvSpPr/>
      </dsp:nvSpPr>
      <dsp:spPr>
        <a:xfrm>
          <a:off x="1462320" y="2604801"/>
          <a:ext cx="2511121"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5570" tIns="115570" rIns="115570" bIns="115570" numCol="1" spcCol="1270" anchor="ctr" anchorCtr="0">
          <a:noAutofit/>
        </a:bodyPr>
        <a:lstStyle/>
        <a:p>
          <a:pPr marL="0" lvl="0" indent="0" algn="l" defTabSz="577850">
            <a:lnSpc>
              <a:spcPct val="90000"/>
            </a:lnSpc>
            <a:spcBef>
              <a:spcPct val="0"/>
            </a:spcBef>
            <a:spcAft>
              <a:spcPct val="35000"/>
            </a:spcAft>
            <a:buNone/>
          </a:pPr>
          <a:r>
            <a:rPr lang="en-IN" sz="1300" b="0" i="0" kern="1200" dirty="0"/>
            <a:t>Deploy Bicep (</a:t>
          </a:r>
          <a:r>
            <a:rPr lang="en-IN" sz="1300" b="0" i="0" kern="1200" dirty="0" err="1"/>
            <a:t>IaC</a:t>
          </a:r>
          <a:r>
            <a:rPr lang="en-IN" sz="1300" b="0" i="0" kern="1200" dirty="0"/>
            <a:t>) </a:t>
          </a:r>
          <a:endParaRPr lang="en-US" sz="1300" kern="1200" dirty="0">
            <a:latin typeface="+mn-lt"/>
          </a:endParaRPr>
        </a:p>
      </dsp:txBody>
      <dsp:txXfrm>
        <a:off x="1493740" y="2636221"/>
        <a:ext cx="2448281" cy="580810"/>
      </dsp:txXfrm>
    </dsp:sp>
    <dsp:sp modelId="{53120BE5-D04A-4F71-A409-5B5EFCB1CF7A}">
      <dsp:nvSpPr>
        <dsp:cNvPr id="0" name=""/>
        <dsp:cNvSpPr/>
      </dsp:nvSpPr>
      <dsp:spPr>
        <a:xfrm>
          <a:off x="2717881"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3069438" y="2027215"/>
          <a:ext cx="2209786"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11200">
            <a:lnSpc>
              <a:spcPct val="90000"/>
            </a:lnSpc>
            <a:spcBef>
              <a:spcPct val="0"/>
            </a:spcBef>
            <a:spcAft>
              <a:spcPct val="35000"/>
            </a:spcAft>
            <a:buNone/>
            <a:defRPr b="1"/>
          </a:pPr>
          <a:r>
            <a:rPr lang="en-US" sz="1600" kern="1200" dirty="0">
              <a:solidFill>
                <a:schemeClr val="accent2">
                  <a:lumMod val="60000"/>
                  <a:lumOff val="40000"/>
                </a:schemeClr>
              </a:solidFill>
              <a:latin typeface="+mn-lt"/>
            </a:rPr>
            <a:t>3</a:t>
          </a:r>
        </a:p>
      </dsp:txBody>
      <dsp:txXfrm>
        <a:off x="3069438" y="2027215"/>
        <a:ext cx="2209786" cy="426583"/>
      </dsp:txXfrm>
    </dsp:sp>
    <dsp:sp modelId="{10581EB4-AD6B-40A1-9230-73D08C91AF8A}">
      <dsp:nvSpPr>
        <dsp:cNvPr id="0" name=""/>
        <dsp:cNvSpPr/>
      </dsp:nvSpPr>
      <dsp:spPr>
        <a:xfrm>
          <a:off x="2689568"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2918770" y="526622"/>
          <a:ext cx="2511121"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IN" sz="1800" b="0" i="0" kern="1200" dirty="0"/>
            <a:t>Checkout Code</a:t>
          </a:r>
          <a:endParaRPr lang="en-US" sz="1800" kern="1200" dirty="0">
            <a:latin typeface="+mn-lt"/>
          </a:endParaRPr>
        </a:p>
      </dsp:txBody>
      <dsp:txXfrm>
        <a:off x="2950190" y="558042"/>
        <a:ext cx="2448281" cy="580810"/>
      </dsp:txXfrm>
    </dsp:sp>
    <dsp:sp modelId="{DBD74D6B-057A-432C-9067-BF618C19EB2A}">
      <dsp:nvSpPr>
        <dsp:cNvPr id="0" name=""/>
        <dsp:cNvSpPr/>
      </dsp:nvSpPr>
      <dsp:spPr>
        <a:xfrm>
          <a:off x="4174331"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4525888" y="1321276"/>
          <a:ext cx="2209786"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11200">
            <a:lnSpc>
              <a:spcPct val="90000"/>
            </a:lnSpc>
            <a:spcBef>
              <a:spcPct val="0"/>
            </a:spcBef>
            <a:spcAft>
              <a:spcPct val="35000"/>
            </a:spcAft>
            <a:buNone/>
            <a:defRPr b="1"/>
          </a:pPr>
          <a:r>
            <a:rPr lang="en-US" sz="1600" kern="1200" dirty="0">
              <a:solidFill>
                <a:schemeClr val="accent2">
                  <a:lumMod val="60000"/>
                  <a:lumOff val="40000"/>
                </a:schemeClr>
              </a:solidFill>
              <a:latin typeface="+mn-lt"/>
            </a:rPr>
            <a:t>4</a:t>
          </a:r>
        </a:p>
      </dsp:txBody>
      <dsp:txXfrm>
        <a:off x="4525888" y="1321276"/>
        <a:ext cx="2209786" cy="426583"/>
      </dsp:txXfrm>
    </dsp:sp>
    <dsp:sp modelId="{0F979253-FD39-4920-BFCA-78C564B167EA}">
      <dsp:nvSpPr>
        <dsp:cNvPr id="0" name=""/>
        <dsp:cNvSpPr/>
      </dsp:nvSpPr>
      <dsp:spPr>
        <a:xfrm>
          <a:off x="4146018"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4375221" y="2604801"/>
          <a:ext cx="2511121"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5570" tIns="115570" rIns="115570" bIns="115570" numCol="1" spcCol="1270" anchor="ctr" anchorCtr="0">
          <a:noAutofit/>
        </a:bodyPr>
        <a:lstStyle/>
        <a:p>
          <a:pPr marL="0" lvl="0" indent="0" algn="l" defTabSz="577850">
            <a:lnSpc>
              <a:spcPct val="90000"/>
            </a:lnSpc>
            <a:spcBef>
              <a:spcPct val="0"/>
            </a:spcBef>
            <a:spcAft>
              <a:spcPct val="35000"/>
            </a:spcAft>
            <a:buNone/>
          </a:pPr>
          <a:r>
            <a:rPr lang="en-IN" sz="1300" b="0" i="0" kern="1200" dirty="0"/>
            <a:t>Build (Angular/SQL DACPAC).</a:t>
          </a:r>
          <a:endParaRPr lang="en-US" sz="1300" kern="1200" dirty="0">
            <a:solidFill>
              <a:schemeClr val="accent2">
                <a:lumMod val="60000"/>
                <a:lumOff val="40000"/>
              </a:schemeClr>
            </a:solidFill>
            <a:latin typeface="+mn-lt"/>
          </a:endParaRPr>
        </a:p>
      </dsp:txBody>
      <dsp:txXfrm>
        <a:off x="4406641" y="2636221"/>
        <a:ext cx="2448281" cy="580810"/>
      </dsp:txXfrm>
    </dsp:sp>
    <dsp:sp modelId="{DCAE8A46-752C-4E82-84CE-E790E1F2918E}">
      <dsp:nvSpPr>
        <dsp:cNvPr id="0" name=""/>
        <dsp:cNvSpPr/>
      </dsp:nvSpPr>
      <dsp:spPr>
        <a:xfrm>
          <a:off x="5630781"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45DCE05-C706-4E65-ABD2-5D998A989C0C}">
      <dsp:nvSpPr>
        <dsp:cNvPr id="0" name=""/>
        <dsp:cNvSpPr/>
      </dsp:nvSpPr>
      <dsp:spPr>
        <a:xfrm>
          <a:off x="5982338" y="2047559"/>
          <a:ext cx="2209786" cy="38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solidFill>
                <a:srgbClr val="FF0000"/>
              </a:solidFill>
              <a:latin typeface="+mn-lt"/>
            </a:rPr>
            <a:t>5</a:t>
          </a:r>
        </a:p>
      </dsp:txBody>
      <dsp:txXfrm>
        <a:off x="5982338" y="2047559"/>
        <a:ext cx="2209786" cy="385895"/>
      </dsp:txXfrm>
    </dsp:sp>
    <dsp:sp modelId="{B6459BF8-D2C3-4018-9C28-98667DC203F4}">
      <dsp:nvSpPr>
        <dsp:cNvPr id="0" name=""/>
        <dsp:cNvSpPr/>
      </dsp:nvSpPr>
      <dsp:spPr>
        <a:xfrm>
          <a:off x="5602468"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28172A-A218-403F-BE97-0F799EDA981E}">
      <dsp:nvSpPr>
        <dsp:cNvPr id="0" name=""/>
        <dsp:cNvSpPr/>
      </dsp:nvSpPr>
      <dsp:spPr>
        <a:xfrm>
          <a:off x="5831671" y="325482"/>
          <a:ext cx="2511121" cy="844791"/>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IN" sz="1800" b="0" i="0" kern="1200" dirty="0"/>
            <a:t>Deploy Code (Zip Deploy)</a:t>
          </a:r>
          <a:endParaRPr lang="en-US" sz="1800" kern="1200" dirty="0">
            <a:latin typeface="+mn-lt"/>
          </a:endParaRPr>
        </a:p>
      </dsp:txBody>
      <dsp:txXfrm>
        <a:off x="5872910" y="366721"/>
        <a:ext cx="2428643" cy="762313"/>
      </dsp:txXfrm>
    </dsp:sp>
    <dsp:sp modelId="{55BE8B83-6E70-4AE1-8D13-354A9A109976}">
      <dsp:nvSpPr>
        <dsp:cNvPr id="0" name=""/>
        <dsp:cNvSpPr/>
      </dsp:nvSpPr>
      <dsp:spPr>
        <a:xfrm>
          <a:off x="7087232"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5D434E7-54CC-40AA-98FC-C15E12A83951}">
      <dsp:nvSpPr>
        <dsp:cNvPr id="0" name=""/>
        <dsp:cNvSpPr/>
      </dsp:nvSpPr>
      <dsp:spPr>
        <a:xfrm>
          <a:off x="7058919"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3/15/2026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3/15/2026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1" i="0" kern="1200" dirty="0">
                <a:solidFill>
                  <a:schemeClr val="tx1"/>
                </a:solidFill>
                <a:effectLst/>
                <a:latin typeface="+mn-lt"/>
                <a:ea typeface="+mn-ea"/>
                <a:cs typeface="+mn-cs"/>
              </a:rPr>
              <a:t>The Vision</a:t>
            </a:r>
            <a:br>
              <a:rPr lang="en-US" dirty="0"/>
            </a:br>
            <a:r>
              <a:rPr lang="en-US" sz="1200" b="0" i="0" kern="1200" dirty="0">
                <a:solidFill>
                  <a:schemeClr val="tx1"/>
                </a:solidFill>
                <a:effectLst/>
                <a:latin typeface="+mn-lt"/>
                <a:ea typeface="+mn-ea"/>
                <a:cs typeface="+mn-cs"/>
              </a:rPr>
              <a:t>"Good morning, everyone. I’m Rohit Budhe. Today, I’m sharing a framework for </a:t>
            </a:r>
            <a:r>
              <a:rPr lang="en-US" sz="1200" b="1" i="0" kern="1200" dirty="0">
                <a:solidFill>
                  <a:schemeClr val="tx1"/>
                </a:solidFill>
                <a:effectLst/>
                <a:latin typeface="+mn-lt"/>
                <a:ea typeface="+mn-ea"/>
                <a:cs typeface="+mn-cs"/>
              </a:rPr>
              <a:t>End-to-End Azure Automation</a:t>
            </a:r>
            <a:r>
              <a:rPr lang="en-US" sz="1200" b="0" i="0" kern="1200" dirty="0">
                <a:solidFill>
                  <a:schemeClr val="tx1"/>
                </a:solidFill>
                <a:effectLst/>
                <a:latin typeface="+mn-lt"/>
                <a:ea typeface="+mn-ea"/>
                <a:cs typeface="+mn-cs"/>
              </a:rPr>
              <a:t>. This isn't just a conceptual project; it’s a proven ecosystem born from a successful POC I led in my current organization. My goal was simple but ambitious: move us past basic scripts and into a </a:t>
            </a:r>
            <a:r>
              <a:rPr lang="en-US" sz="1200" b="1" i="0" kern="1200" dirty="0">
                <a:solidFill>
                  <a:schemeClr val="tx1"/>
                </a:solidFill>
                <a:effectLst/>
                <a:latin typeface="+mn-lt"/>
                <a:ea typeface="+mn-ea"/>
                <a:cs typeface="+mn-cs"/>
              </a:rPr>
              <a:t>Zero-Trust, hands-off deployment model</a:t>
            </a:r>
            <a:r>
              <a:rPr lang="en-US" sz="1200" b="0" i="0" kern="1200" dirty="0">
                <a:solidFill>
                  <a:schemeClr val="tx1"/>
                </a:solidFill>
                <a:effectLst/>
                <a:latin typeface="+mn-lt"/>
                <a:ea typeface="+mn-ea"/>
                <a:cs typeface="+mn-cs"/>
              </a:rPr>
              <a:t> using Bicep and GitHub Actions."</a:t>
            </a:r>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started by tackling a classic 'Click-Ops' bottleneck. Manual deployments were eating up </a:t>
            </a:r>
            <a:r>
              <a:rPr lang="en-US" sz="1200" b="1" i="0" kern="1200" dirty="0">
                <a:solidFill>
                  <a:schemeClr val="tx1"/>
                </a:solidFill>
                <a:effectLst/>
                <a:latin typeface="+mn-lt"/>
                <a:ea typeface="+mn-ea"/>
                <a:cs typeface="+mn-cs"/>
              </a:rPr>
              <a:t>two hours</a:t>
            </a:r>
            <a:r>
              <a:rPr lang="en-US" sz="1200" b="0" i="0" kern="1200" dirty="0">
                <a:solidFill>
                  <a:schemeClr val="tx1"/>
                </a:solidFill>
                <a:effectLst/>
                <a:latin typeface="+mn-lt"/>
                <a:ea typeface="+mn-ea"/>
                <a:cs typeface="+mn-cs"/>
              </a:rPr>
              <a:t> per cycle, riddled with human error and 'it works on my machine' inconsistencies.</a:t>
            </a:r>
          </a:p>
          <a:p>
            <a:r>
              <a:rPr lang="en-US" sz="1200" b="1" i="0" kern="1200" dirty="0">
                <a:solidFill>
                  <a:schemeClr val="tx1"/>
                </a:solidFill>
                <a:effectLst/>
                <a:latin typeface="+mn-lt"/>
                <a:ea typeface="+mn-ea"/>
                <a:cs typeface="+mn-cs"/>
              </a:rPr>
              <a:t>The Strategy:</a:t>
            </a:r>
            <a:r>
              <a:rPr lang="en-US" sz="1200" b="0" i="0" kern="1200" dirty="0">
                <a:solidFill>
                  <a:schemeClr val="tx1"/>
                </a:solidFill>
                <a:effectLst/>
                <a:latin typeface="+mn-lt"/>
                <a:ea typeface="+mn-ea"/>
                <a:cs typeface="+mn-cs"/>
              </a:rPr>
              <a:t> I shifted us to a 'Code-First' cloning model for Dev, Test, and Prod.</a:t>
            </a:r>
          </a:p>
          <a:p>
            <a:r>
              <a:rPr lang="en-US" sz="1200" b="1" i="0" kern="1200" dirty="0">
                <a:solidFill>
                  <a:schemeClr val="tx1"/>
                </a:solidFill>
                <a:effectLst/>
                <a:latin typeface="+mn-lt"/>
                <a:ea typeface="+mn-ea"/>
                <a:cs typeface="+mn-cs"/>
              </a:rPr>
              <a:t>The Win:</a:t>
            </a:r>
            <a:r>
              <a:rPr lang="en-US" sz="1200" b="0" i="0" kern="1200" dirty="0">
                <a:solidFill>
                  <a:schemeClr val="tx1"/>
                </a:solidFill>
                <a:effectLst/>
                <a:latin typeface="+mn-lt"/>
                <a:ea typeface="+mn-ea"/>
                <a:cs typeface="+mn-cs"/>
              </a:rPr>
              <a:t> We slashed deployment time by </a:t>
            </a:r>
            <a:r>
              <a:rPr lang="en-US" sz="1200" b="1" i="0" kern="1200" dirty="0">
                <a:solidFill>
                  <a:schemeClr val="tx1"/>
                </a:solidFill>
                <a:effectLst/>
                <a:latin typeface="+mn-lt"/>
                <a:ea typeface="+mn-ea"/>
                <a:cs typeface="+mn-cs"/>
              </a:rPr>
              <a:t>70%</a:t>
            </a:r>
            <a:r>
              <a:rPr lang="en-US" sz="1200" b="0" i="0" kern="1200" dirty="0">
                <a:solidFill>
                  <a:schemeClr val="tx1"/>
                </a:solidFill>
                <a:effectLst/>
                <a:latin typeface="+mn-lt"/>
                <a:ea typeface="+mn-ea"/>
                <a:cs typeface="+mn-cs"/>
              </a:rPr>
              <a:t>, hitting a </a:t>
            </a:r>
            <a:r>
              <a:rPr lang="en-US" sz="1200" b="1" i="0" kern="1200" dirty="0">
                <a:solidFill>
                  <a:schemeClr val="tx1"/>
                </a:solidFill>
                <a:effectLst/>
                <a:latin typeface="+mn-lt"/>
                <a:ea typeface="+mn-ea"/>
                <a:cs typeface="+mn-cs"/>
              </a:rPr>
              <a:t>15-minute 'Commit-to-Cloud' benchmark</a:t>
            </a:r>
            <a:r>
              <a:rPr lang="en-US" sz="1200" b="0" i="0" kern="1200" dirty="0">
                <a:solidFill>
                  <a:schemeClr val="tx1"/>
                </a:solidFill>
                <a:effectLst/>
                <a:latin typeface="+mn-lt"/>
                <a:ea typeface="+mn-ea"/>
                <a:cs typeface="+mn-cs"/>
              </a:rPr>
              <a:t>. More importantly, we achieved zero configuration drift—meaning we stopped firefighting manual changes that broke the environment."</a:t>
            </a:r>
          </a:p>
        </p:txBody>
      </p:sp>
      <p:sp>
        <p:nvSpPr>
          <p:cNvPr id="4" name="Slide Number Placeholder 3"/>
          <p:cNvSpPr>
            <a:spLocks noGrp="1"/>
          </p:cNvSpPr>
          <p:nvPr>
            <p:ph type="sldNum" sz="quarter" idx="5"/>
          </p:nvPr>
        </p:nvSpPr>
        <p:spPr/>
        <p:txBody>
          <a:bodyPr/>
          <a:lstStyle/>
          <a:p>
            <a:fld id="{D060679C-80C7-4E7D-9614-ABA41C5B2858}" type="slidenum">
              <a:rPr lang="en-US" smtClean="0"/>
              <a:t>2</a:t>
            </a:fld>
            <a:endParaRPr lang="en-US" dirty="0"/>
          </a:p>
        </p:txBody>
      </p:sp>
    </p:spTree>
    <p:extLst>
      <p:ext uri="{BB962C8B-B14F-4D97-AF65-F5344CB8AC3E}">
        <p14:creationId xmlns:p14="http://schemas.microsoft.com/office/powerpoint/2010/main" val="1228136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High-Level Architecture (ACTION: Show Resource Visualizer)</a:t>
            </a:r>
          </a:p>
          <a:p>
            <a:r>
              <a:rPr lang="en-US" sz="1200" b="0" i="0" kern="1200" dirty="0">
                <a:solidFill>
                  <a:schemeClr val="tx1"/>
                </a:solidFill>
                <a:effectLst/>
                <a:latin typeface="+mn-lt"/>
                <a:ea typeface="+mn-ea"/>
                <a:cs typeface="+mn-cs"/>
              </a:rPr>
              <a:t>Here is the flow in three simple steps:</a:t>
            </a:r>
          </a:p>
          <a:p>
            <a:r>
              <a:rPr lang="en-US" sz="1200" b="1" i="0" kern="1200" dirty="0">
                <a:solidFill>
                  <a:schemeClr val="tx1"/>
                </a:solidFill>
                <a:effectLst/>
                <a:latin typeface="+mn-lt"/>
                <a:ea typeface="+mn-ea"/>
                <a:cs typeface="+mn-cs"/>
              </a:rPr>
              <a:t>Trigger (GitHub):</a:t>
            </a:r>
            <a:r>
              <a:rPr lang="en-US" sz="1200" b="0" i="0" kern="1200" dirty="0">
                <a:solidFill>
                  <a:schemeClr val="tx1"/>
                </a:solidFill>
                <a:effectLst/>
                <a:latin typeface="+mn-lt"/>
                <a:ea typeface="+mn-ea"/>
                <a:cs typeface="+mn-cs"/>
              </a:rPr>
              <a:t> A code change in the </a:t>
            </a:r>
            <a:r>
              <a:rPr lang="en-US" sz="1200" b="1" i="0" kern="1200" dirty="0">
                <a:solidFill>
                  <a:schemeClr val="tx1"/>
                </a:solidFill>
                <a:effectLst/>
                <a:latin typeface="+mn-lt"/>
                <a:ea typeface="+mn-ea"/>
                <a:cs typeface="+mn-cs"/>
              </a:rPr>
              <a:t>Git Repository</a:t>
            </a:r>
            <a:r>
              <a:rPr lang="en-US" sz="1200" b="0" i="0" kern="1200" dirty="0">
                <a:solidFill>
                  <a:schemeClr val="tx1"/>
                </a:solidFill>
                <a:effectLst/>
                <a:latin typeface="+mn-lt"/>
                <a:ea typeface="+mn-ea"/>
                <a:cs typeface="+mn-cs"/>
              </a:rPr>
              <a:t> triggers a </a:t>
            </a:r>
            <a:r>
              <a:rPr lang="en-US" sz="1200" b="1" i="0" kern="1200" dirty="0">
                <a:solidFill>
                  <a:schemeClr val="tx1"/>
                </a:solidFill>
                <a:effectLst/>
                <a:latin typeface="+mn-lt"/>
                <a:ea typeface="+mn-ea"/>
                <a:cs typeface="+mn-cs"/>
              </a:rPr>
              <a:t>GitHub Actions</a:t>
            </a:r>
            <a:r>
              <a:rPr lang="en-US" sz="1200" b="0" i="0" kern="1200" dirty="0">
                <a:solidFill>
                  <a:schemeClr val="tx1"/>
                </a:solidFill>
                <a:effectLst/>
                <a:latin typeface="+mn-lt"/>
                <a:ea typeface="+mn-ea"/>
                <a:cs typeface="+mn-cs"/>
              </a:rPr>
              <a:t> workflow.</a:t>
            </a:r>
          </a:p>
          <a:p>
            <a:r>
              <a:rPr lang="en-US" sz="1200" b="1" i="0" kern="1200" dirty="0">
                <a:solidFill>
                  <a:schemeClr val="tx1"/>
                </a:solidFill>
                <a:effectLst/>
                <a:latin typeface="+mn-lt"/>
                <a:ea typeface="+mn-ea"/>
                <a:cs typeface="+mn-cs"/>
              </a:rPr>
              <a:t>Authentication (Entra ID):</a:t>
            </a:r>
            <a:r>
              <a:rPr lang="en-US" sz="1200" b="0" i="0" kern="1200" dirty="0">
                <a:solidFill>
                  <a:schemeClr val="tx1"/>
                </a:solidFill>
                <a:effectLst/>
                <a:latin typeface="+mn-lt"/>
                <a:ea typeface="+mn-ea"/>
                <a:cs typeface="+mn-cs"/>
              </a:rPr>
              <a:t> GitHub connects to Azure securely using </a:t>
            </a:r>
            <a:r>
              <a:rPr lang="en-US" sz="1200" b="1" i="0" kern="1200" dirty="0">
                <a:solidFill>
                  <a:schemeClr val="tx1"/>
                </a:solidFill>
                <a:effectLst/>
                <a:latin typeface="+mn-lt"/>
                <a:ea typeface="+mn-ea"/>
                <a:cs typeface="+mn-cs"/>
              </a:rPr>
              <a:t>OIDC (OpenID Connect)</a:t>
            </a:r>
            <a:r>
              <a:rPr lang="en-US" sz="1200" b="0" i="0" kern="1200" dirty="0">
                <a:solidFill>
                  <a:schemeClr val="tx1"/>
                </a:solidFill>
                <a:effectLst/>
                <a:latin typeface="+mn-lt"/>
                <a:ea typeface="+mn-ea"/>
                <a:cs typeface="+mn-cs"/>
              </a:rPr>
              <a:t>. This avoids using permanent passwords by establishing a "trust" with a </a:t>
            </a:r>
            <a:r>
              <a:rPr lang="en-US" sz="1200" b="1" i="0" kern="1200" dirty="0">
                <a:solidFill>
                  <a:schemeClr val="tx1"/>
                </a:solidFill>
                <a:effectLst/>
                <a:latin typeface="+mn-lt"/>
                <a:ea typeface="+mn-ea"/>
                <a:cs typeface="+mn-cs"/>
              </a:rPr>
              <a:t>Service Principal</a:t>
            </a:r>
            <a:r>
              <a:rPr lang="en-US" sz="1200" b="0" i="0" kern="1200" dirty="0">
                <a:solidFill>
                  <a:schemeClr val="tx1"/>
                </a:solidFill>
                <a:effectLst/>
                <a:latin typeface="+mn-lt"/>
                <a:ea typeface="+mn-ea"/>
                <a:cs typeface="+mn-cs"/>
              </a:rPr>
              <a:t> in </a:t>
            </a:r>
            <a:r>
              <a:rPr lang="en-US" sz="1200" b="1" i="0" kern="1200" dirty="0">
                <a:solidFill>
                  <a:schemeClr val="tx1"/>
                </a:solidFill>
                <a:effectLst/>
                <a:latin typeface="+mn-lt"/>
                <a:ea typeface="+mn-ea"/>
                <a:cs typeface="+mn-cs"/>
              </a:rPr>
              <a:t>Microsoft Entra ID</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Deployment (Azure):</a:t>
            </a:r>
            <a:r>
              <a:rPr lang="en-US" sz="1200" b="0" i="0" kern="1200" dirty="0">
                <a:solidFill>
                  <a:schemeClr val="tx1"/>
                </a:solidFill>
                <a:effectLst/>
                <a:latin typeface="+mn-lt"/>
                <a:ea typeface="+mn-ea"/>
                <a:cs typeface="+mn-cs"/>
              </a:rPr>
              <a:t> Once authenticated, GitHub Actions provisions and updates the resources inside a </a:t>
            </a:r>
            <a:r>
              <a:rPr lang="en-US" sz="1200" b="1" i="0" kern="1200" dirty="0">
                <a:solidFill>
                  <a:schemeClr val="tx1"/>
                </a:solidFill>
                <a:effectLst/>
                <a:latin typeface="+mn-lt"/>
                <a:ea typeface="+mn-ea"/>
                <a:cs typeface="+mn-cs"/>
              </a:rPr>
              <a:t>Virtual Network</a:t>
            </a:r>
            <a:r>
              <a:rPr lang="en-US" sz="1200" b="0" i="0" kern="1200" dirty="0">
                <a:solidFill>
                  <a:schemeClr val="tx1"/>
                </a:solidFill>
                <a:effectLst/>
                <a:latin typeface="+mn-lt"/>
                <a:ea typeface="+mn-ea"/>
                <a:cs typeface="+mn-cs"/>
              </a:rPr>
              <a:t>. The </a:t>
            </a:r>
            <a:r>
              <a:rPr lang="en-US" sz="1200" b="1" i="0" kern="1200" dirty="0">
                <a:solidFill>
                  <a:schemeClr val="tx1"/>
                </a:solidFill>
                <a:effectLst/>
                <a:latin typeface="+mn-lt"/>
                <a:ea typeface="+mn-ea"/>
                <a:cs typeface="+mn-cs"/>
              </a:rPr>
              <a:t>App Service</a:t>
            </a:r>
            <a:r>
              <a:rPr lang="en-US" sz="1200" b="0" i="0" kern="1200" dirty="0">
                <a:solidFill>
                  <a:schemeClr val="tx1"/>
                </a:solidFill>
                <a:effectLst/>
                <a:latin typeface="+mn-lt"/>
                <a:ea typeface="+mn-ea"/>
                <a:cs typeface="+mn-cs"/>
              </a:rPr>
              <a:t> (web layer) and </a:t>
            </a:r>
            <a:r>
              <a:rPr lang="en-US" sz="1200" b="1" i="0" kern="1200" dirty="0">
                <a:solidFill>
                  <a:schemeClr val="tx1"/>
                </a:solidFill>
                <a:effectLst/>
                <a:latin typeface="+mn-lt"/>
                <a:ea typeface="+mn-ea"/>
                <a:cs typeface="+mn-cs"/>
              </a:rPr>
              <a:t>SQL Managed Instance</a:t>
            </a:r>
            <a:r>
              <a:rPr lang="en-US" sz="1200" b="0" i="0" kern="1200" dirty="0">
                <a:solidFill>
                  <a:schemeClr val="tx1"/>
                </a:solidFill>
                <a:effectLst/>
                <a:latin typeface="+mn-lt"/>
                <a:ea typeface="+mn-ea"/>
                <a:cs typeface="+mn-cs"/>
              </a:rPr>
              <a:t> (database layer) are isolated into their own </a:t>
            </a:r>
            <a:r>
              <a:rPr lang="en-US" sz="1200" b="1" i="0" kern="1200" dirty="0">
                <a:solidFill>
                  <a:schemeClr val="tx1"/>
                </a:solidFill>
                <a:effectLst/>
                <a:latin typeface="+mn-lt"/>
                <a:ea typeface="+mn-ea"/>
                <a:cs typeface="+mn-cs"/>
              </a:rPr>
              <a:t>subnets</a:t>
            </a:r>
            <a:r>
              <a:rPr lang="en-US" sz="1200" b="0" i="0" kern="1200" dirty="0">
                <a:solidFill>
                  <a:schemeClr val="tx1"/>
                </a:solidFill>
                <a:effectLst/>
                <a:latin typeface="+mn-lt"/>
                <a:ea typeface="+mn-ea"/>
                <a:cs typeface="+mn-cs"/>
              </a:rPr>
              <a:t> for maximum security.</a:t>
            </a:r>
          </a:p>
          <a:p>
            <a:r>
              <a:rPr lang="en-US" sz="1200" b="0" i="0" kern="1200" dirty="0">
                <a:solidFill>
                  <a:schemeClr val="tx1"/>
                </a:solidFill>
                <a:effectLst/>
                <a:latin typeface="+mn-lt"/>
                <a:ea typeface="+mn-ea"/>
                <a:cs typeface="+mn-cs"/>
              </a:rPr>
              <a:t>In short: It’s a </a:t>
            </a:r>
            <a:r>
              <a:rPr lang="en-US" sz="1200" b="1" i="0" kern="1200" dirty="0" err="1">
                <a:solidFill>
                  <a:schemeClr val="tx1"/>
                </a:solidFill>
                <a:effectLst/>
                <a:latin typeface="+mn-lt"/>
                <a:ea typeface="+mn-ea"/>
                <a:cs typeface="+mn-cs"/>
              </a:rPr>
              <a:t>passwordless</a:t>
            </a:r>
            <a:r>
              <a:rPr lang="en-US" sz="1200" b="1" i="0" kern="1200" dirty="0">
                <a:solidFill>
                  <a:schemeClr val="tx1"/>
                </a:solidFill>
                <a:effectLst/>
                <a:latin typeface="+mn-lt"/>
                <a:ea typeface="+mn-ea"/>
                <a:cs typeface="+mn-cs"/>
              </a:rPr>
              <a:t>, automated deployment</a:t>
            </a:r>
            <a:r>
              <a:rPr lang="en-US" sz="1200" b="0" i="0" kern="1200" dirty="0">
                <a:solidFill>
                  <a:schemeClr val="tx1"/>
                </a:solidFill>
                <a:effectLst/>
                <a:latin typeface="+mn-lt"/>
                <a:ea typeface="+mn-ea"/>
                <a:cs typeface="+mn-cs"/>
              </a:rPr>
              <a:t> into a </a:t>
            </a:r>
            <a:r>
              <a:rPr lang="en-US" sz="1200" b="1" i="0" kern="1200" dirty="0">
                <a:solidFill>
                  <a:schemeClr val="tx1"/>
                </a:solidFill>
                <a:effectLst/>
                <a:latin typeface="+mn-lt"/>
                <a:ea typeface="+mn-ea"/>
                <a:cs typeface="+mn-cs"/>
              </a:rPr>
              <a:t>private, multi-tier Azure network</a:t>
            </a:r>
            <a:r>
              <a:rPr lang="en-US" sz="1200" b="0" i="0" kern="1200" dirty="0">
                <a:solidFill>
                  <a:schemeClr val="tx1"/>
                </a:solidFill>
                <a:effectLst/>
                <a:latin typeface="+mn-lt"/>
                <a:ea typeface="+mn-ea"/>
                <a:cs typeface="+mn-cs"/>
              </a:rPr>
              <a:t>.</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"Architecture is only as good as its isolation. I designed this with a </a:t>
            </a:r>
            <a:r>
              <a:rPr lang="en-US" sz="1200" b="1" i="0" kern="1200" dirty="0">
                <a:solidFill>
                  <a:schemeClr val="tx1"/>
                </a:solidFill>
                <a:effectLst/>
                <a:latin typeface="+mn-lt"/>
                <a:ea typeface="+mn-ea"/>
                <a:cs typeface="+mn-cs"/>
              </a:rPr>
              <a:t>Hub-and-Spoke-ready</a:t>
            </a:r>
            <a:r>
              <a:rPr lang="en-US" sz="1200" b="0" i="0" kern="1200" dirty="0">
                <a:solidFill>
                  <a:schemeClr val="tx1"/>
                </a:solidFill>
                <a:effectLst/>
                <a:latin typeface="+mn-lt"/>
                <a:ea typeface="+mn-ea"/>
                <a:cs typeface="+mn-cs"/>
              </a:rPr>
              <a:t> mindset. Instead of dumping resources into a single bucket, I carved out a </a:t>
            </a:r>
            <a:r>
              <a:rPr lang="en-US" sz="1200" b="1" i="0" kern="1200" dirty="0">
                <a:solidFill>
                  <a:schemeClr val="tx1"/>
                </a:solidFill>
                <a:effectLst/>
                <a:latin typeface="+mn-lt"/>
                <a:ea typeface="+mn-ea"/>
                <a:cs typeface="+mn-cs"/>
              </a:rPr>
              <a:t>Micro-Perimeter</a:t>
            </a:r>
            <a:r>
              <a:rPr lang="en-US" sz="1200" b="0" i="0" kern="1200" dirty="0">
                <a:solidFill>
                  <a:schemeClr val="tx1"/>
                </a:solidFill>
                <a:effectLst/>
                <a:latin typeface="+mn-lt"/>
                <a:ea typeface="+mn-ea"/>
                <a:cs typeface="+mn-cs"/>
              </a:rPr>
              <a:t>. Our App Service and SQL Managed Instance live in strictly separate subnets. This means even if the web tier is compromised, the data layer remains invisible to the public, shielded by internal Azure routing."</a:t>
            </a:r>
          </a:p>
          <a:p>
            <a:endParaRPr lang="en-IN" dirty="0"/>
          </a:p>
        </p:txBody>
      </p:sp>
      <p:sp>
        <p:nvSpPr>
          <p:cNvPr id="4" name="Slide Number Placeholder 3"/>
          <p:cNvSpPr>
            <a:spLocks noGrp="1"/>
          </p:cNvSpPr>
          <p:nvPr>
            <p:ph type="sldNum" sz="quarter" idx="5"/>
          </p:nvPr>
        </p:nvSpPr>
        <p:spPr/>
        <p:txBody>
          <a:bodyPr/>
          <a:lstStyle/>
          <a:p>
            <a:fld id="{D060679C-80C7-4E7D-9614-ABA41C5B2858}" type="slidenum">
              <a:rPr lang="en-US" smtClean="0"/>
              <a:t>3</a:t>
            </a:fld>
            <a:endParaRPr lang="en-US" dirty="0"/>
          </a:p>
        </p:txBody>
      </p:sp>
    </p:spTree>
    <p:extLst>
      <p:ext uri="{BB962C8B-B14F-4D97-AF65-F5344CB8AC3E}">
        <p14:creationId xmlns:p14="http://schemas.microsoft.com/office/powerpoint/2010/main" val="2037372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Service connection between </a:t>
            </a:r>
            <a:r>
              <a:rPr lang="en-US" sz="1200" b="0" i="0" kern="1200" dirty="0" err="1">
                <a:solidFill>
                  <a:schemeClr val="tx1"/>
                </a:solidFill>
                <a:effectLst/>
                <a:latin typeface="+mn-lt"/>
                <a:ea typeface="+mn-ea"/>
                <a:cs typeface="+mn-cs"/>
              </a:rPr>
              <a:t>github</a:t>
            </a:r>
            <a:r>
              <a:rPr lang="en-US" sz="1200" b="0" i="0" kern="1200" dirty="0">
                <a:solidFill>
                  <a:schemeClr val="tx1"/>
                </a:solidFill>
                <a:effectLst/>
                <a:latin typeface="+mn-lt"/>
                <a:ea typeface="+mn-ea"/>
                <a:cs typeface="+mn-cs"/>
              </a:rPr>
              <a:t> &amp; azure – we use app registration – App registration in Azure (within Microsoft Entra ID) creates a unique identity for applications, enabling secure authentication and authorization to access Azure resources, APIs, and user data. </a:t>
            </a:r>
          </a:p>
          <a:p>
            <a:r>
              <a:rPr lang="en-US" sz="1200" b="0" i="0" kern="1200" dirty="0">
                <a:solidFill>
                  <a:schemeClr val="tx1"/>
                </a:solidFill>
                <a:effectLst/>
                <a:latin typeface="+mn-lt"/>
                <a:ea typeface="+mn-ea"/>
                <a:cs typeface="+mn-cs"/>
              </a:rPr>
              <a:t>In Security-</a:t>
            </a:r>
          </a:p>
          <a:p>
            <a:r>
              <a:rPr lang="en-US" sz="1200" b="0" i="0" kern="1200" dirty="0">
                <a:solidFill>
                  <a:schemeClr val="tx1"/>
                </a:solidFill>
                <a:effectLst/>
                <a:latin typeface="+mn-lt"/>
                <a:ea typeface="+mn-ea"/>
                <a:cs typeface="+mn-cs"/>
              </a:rPr>
              <a:t>"Let’s talk about the 'Secret Killer' of security: Client Secrets. They expire, they leak, and they’re a maintenance nightmare. I replaced them with </a:t>
            </a:r>
            <a:r>
              <a:rPr lang="en-US" sz="1200" b="1" i="0" kern="1200" dirty="0">
                <a:solidFill>
                  <a:schemeClr val="tx1"/>
                </a:solidFill>
                <a:effectLst/>
                <a:latin typeface="+mn-lt"/>
                <a:ea typeface="+mn-ea"/>
                <a:cs typeface="+mn-cs"/>
              </a:rPr>
              <a:t>OIDC via Federated Credentials</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The Human Angle:</a:t>
            </a:r>
            <a:r>
              <a:rPr lang="en-US" sz="1200" b="0" i="0" kern="1200" dirty="0">
                <a:solidFill>
                  <a:schemeClr val="tx1"/>
                </a:solidFill>
                <a:effectLst/>
                <a:latin typeface="+mn-lt"/>
                <a:ea typeface="+mn-ea"/>
                <a:cs typeface="+mn-cs"/>
              </a:rPr>
              <a:t> No more rotating passwords every 90 days.</a:t>
            </a:r>
          </a:p>
          <a:p>
            <a:r>
              <a:rPr lang="en-US" sz="1200" b="1" i="0" kern="1200" dirty="0">
                <a:solidFill>
                  <a:schemeClr val="tx1"/>
                </a:solidFill>
                <a:effectLst/>
                <a:latin typeface="+mn-lt"/>
                <a:ea typeface="+mn-ea"/>
                <a:cs typeface="+mn-cs"/>
              </a:rPr>
              <a:t>The Tech:</a:t>
            </a:r>
            <a:r>
              <a:rPr lang="en-US" sz="1200" b="0" i="0" kern="1200" dirty="0">
                <a:solidFill>
                  <a:schemeClr val="tx1"/>
                </a:solidFill>
                <a:effectLst/>
                <a:latin typeface="+mn-lt"/>
                <a:ea typeface="+mn-ea"/>
                <a:cs typeface="+mn-cs"/>
              </a:rPr>
              <a:t> GitHub requests a short-lived token from Entra ID on the fly. We moved from a </a:t>
            </a:r>
            <a:r>
              <a:rPr lang="en-US" sz="1200" b="1" i="0" kern="1200" dirty="0">
                <a:solidFill>
                  <a:schemeClr val="tx1"/>
                </a:solidFill>
                <a:effectLst/>
                <a:latin typeface="+mn-lt"/>
                <a:ea typeface="+mn-ea"/>
                <a:cs typeface="+mn-cs"/>
              </a:rPr>
              <a:t>Reactive</a:t>
            </a:r>
            <a:r>
              <a:rPr lang="en-US" sz="1200" b="0" i="0" kern="1200" dirty="0">
                <a:solidFill>
                  <a:schemeClr val="tx1"/>
                </a:solidFill>
                <a:effectLst/>
                <a:latin typeface="+mn-lt"/>
                <a:ea typeface="+mn-ea"/>
                <a:cs typeface="+mn-cs"/>
              </a:rPr>
              <a:t> security posture to a </a:t>
            </a:r>
            <a:r>
              <a:rPr lang="en-US" sz="1200" b="1" i="0" kern="1200" dirty="0">
                <a:solidFill>
                  <a:schemeClr val="tx1"/>
                </a:solidFill>
                <a:effectLst/>
                <a:latin typeface="+mn-lt"/>
                <a:ea typeface="+mn-ea"/>
                <a:cs typeface="+mn-cs"/>
              </a:rPr>
              <a:t>Proactive</a:t>
            </a:r>
            <a:r>
              <a:rPr lang="en-US" sz="1200" b="0" i="0" kern="1200" dirty="0">
                <a:solidFill>
                  <a:schemeClr val="tx1"/>
                </a:solidFill>
                <a:effectLst/>
                <a:latin typeface="+mn-lt"/>
                <a:ea typeface="+mn-ea"/>
                <a:cs typeface="+mn-cs"/>
              </a:rPr>
              <a:t> one, meeting our organization’s Zero-Trust standards without the manual overhead."</a:t>
            </a:r>
          </a:p>
          <a:p>
            <a:endParaRPr lang="en-IN" dirty="0"/>
          </a:p>
          <a:p>
            <a:endParaRPr lang="en-IN" dirty="0"/>
          </a:p>
          <a:p>
            <a:r>
              <a:rPr lang="en-US" sz="1200" b="1" i="0" kern="1200" dirty="0">
                <a:solidFill>
                  <a:schemeClr val="tx1"/>
                </a:solidFill>
                <a:effectLst/>
                <a:latin typeface="+mn-lt"/>
                <a:ea typeface="+mn-ea"/>
                <a:cs typeface="+mn-cs"/>
              </a:rPr>
              <a:t>Switch to GitHub.</a:t>
            </a:r>
            <a:r>
              <a:rPr lang="en-US" sz="1200" b="0" i="0" kern="1200" dirty="0">
                <a:solidFill>
                  <a:schemeClr val="tx1"/>
                </a:solidFill>
                <a:effectLst/>
                <a:latin typeface="+mn-lt"/>
                <a:ea typeface="+mn-ea"/>
                <a:cs typeface="+mn-cs"/>
              </a:rPr>
              <a:t> </a:t>
            </a:r>
          </a:p>
          <a:p>
            <a:pPr marL="228600" indent="-228600">
              <a:buAutoNum type="arabicPeriod"/>
            </a:pPr>
            <a:r>
              <a:rPr lang="en-US" sz="1200" b="1" i="0" kern="1200" dirty="0">
                <a:solidFill>
                  <a:schemeClr val="tx1"/>
                </a:solidFill>
                <a:effectLst/>
                <a:latin typeface="+mn-lt"/>
                <a:ea typeface="+mn-ea"/>
                <a:cs typeface="+mn-cs"/>
              </a:rPr>
              <a:t>Grant Organization Access (</a:t>
            </a:r>
            <a:r>
              <a:rPr lang="en-US" sz="1200" b="1" i="0" kern="1200" dirty="0" err="1">
                <a:solidFill>
                  <a:schemeClr val="tx1"/>
                </a:solidFill>
                <a:effectLst/>
                <a:latin typeface="+mn-lt"/>
                <a:ea typeface="+mn-ea"/>
                <a:cs typeface="+mn-cs"/>
              </a:rPr>
              <a:t>Github</a:t>
            </a:r>
            <a:r>
              <a:rPr lang="en-US" sz="1200" b="1" i="0" kern="1200" dirty="0">
                <a:solidFill>
                  <a:schemeClr val="tx1"/>
                </a:solidFill>
                <a:effectLst/>
                <a:latin typeface="+mn-lt"/>
                <a:ea typeface="+mn-ea"/>
                <a:cs typeface="+mn-cs"/>
              </a:rPr>
              <a:t> Apps in Settings):</a:t>
            </a:r>
            <a:r>
              <a:rPr lang="en-US" sz="1200" b="0" i="0" kern="1200" dirty="0">
                <a:solidFill>
                  <a:schemeClr val="tx1"/>
                </a:solidFill>
                <a:effectLst/>
                <a:latin typeface="+mn-lt"/>
                <a:ea typeface="+mn-ea"/>
                <a:cs typeface="+mn-cs"/>
              </a:rPr>
              <a:t> If the repository is part of a GitHub organization, the organization owner must explicitly grant access to the Azure app.</a:t>
            </a:r>
          </a:p>
          <a:p>
            <a:pPr marL="228600" indent="-228600">
              <a:buAutoNum type="arabicPeriod"/>
            </a:pPr>
            <a:r>
              <a:rPr lang="en-US" sz="1200" b="0" i="0" kern="1200" dirty="0">
                <a:solidFill>
                  <a:schemeClr val="tx1"/>
                </a:solidFill>
                <a:effectLst/>
                <a:latin typeface="+mn-lt"/>
                <a:ea typeface="+mn-ea"/>
                <a:cs typeface="+mn-cs"/>
              </a:rPr>
              <a:t>Show the "Settings &gt; Secrets and Variables &gt; Actions" page to prove you know where the OIDC trust lives.</a:t>
            </a:r>
            <a:endParaRPr lang="en-IN" dirty="0"/>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789913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Infrastructure as Code (ACTION: Show Bicep Code Modules)</a:t>
            </a:r>
          </a:p>
          <a:p>
            <a:r>
              <a:rPr lang="en-US" sz="1200" b="1" i="0" kern="1200" dirty="0">
                <a:solidFill>
                  <a:schemeClr val="tx1"/>
                </a:solidFill>
                <a:effectLst/>
                <a:latin typeface="+mn-lt"/>
                <a:ea typeface="+mn-ea"/>
                <a:cs typeface="+mn-cs"/>
              </a:rPr>
              <a:t>(Infrastructure as Code) is the practice of provisioning and managing Azure resources (such as virtual machines, networks, and databases) using machine-readable configuration files and code rather than manual configuration with the Azure portal.</a:t>
            </a:r>
          </a:p>
          <a:p>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Bicep is a declarative language and is an abstraction over ARM templates, making infrastructure-as-code easier to write and maintain.</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 chose </a:t>
            </a:r>
            <a:r>
              <a:rPr lang="en-US" sz="1200" b="1" i="0" kern="1200" dirty="0">
                <a:solidFill>
                  <a:schemeClr val="tx1"/>
                </a:solidFill>
                <a:effectLst/>
                <a:latin typeface="+mn-lt"/>
                <a:ea typeface="+mn-ea"/>
                <a:cs typeface="+mn-cs"/>
              </a:rPr>
              <a:t>Bicep</a:t>
            </a:r>
            <a:r>
              <a:rPr lang="en-US" sz="1200" b="0" i="0" kern="1200" dirty="0">
                <a:solidFill>
                  <a:schemeClr val="tx1"/>
                </a:solidFill>
                <a:effectLst/>
                <a:latin typeface="+mn-lt"/>
                <a:ea typeface="+mn-ea"/>
                <a:cs typeface="+mn-cs"/>
              </a:rPr>
              <a:t> over Terraform for this stack because of its native 'Day-Zero' support for Azure features.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Deep Dive Content:</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(Scroll to the Modules)</a:t>
            </a:r>
            <a:r>
              <a:rPr lang="en-US" sz="1200" b="0" i="0" kern="1200" dirty="0">
                <a:solidFill>
                  <a:schemeClr val="tx1"/>
                </a:solidFill>
                <a:effectLst/>
                <a:latin typeface="+mn-lt"/>
                <a:ea typeface="+mn-ea"/>
                <a:cs typeface="+mn-cs"/>
              </a:rPr>
              <a:t>. I have used </a:t>
            </a:r>
            <a:r>
              <a:rPr lang="en-US" sz="1200" b="1" i="0" kern="1200" dirty="0">
                <a:solidFill>
                  <a:schemeClr val="tx1"/>
                </a:solidFill>
                <a:effectLst/>
                <a:latin typeface="+mn-lt"/>
                <a:ea typeface="+mn-ea"/>
                <a:cs typeface="+mn-cs"/>
              </a:rPr>
              <a:t>Bicep Modules in my original POC</a:t>
            </a:r>
            <a:r>
              <a:rPr lang="en-US" sz="1200" b="0" i="0" kern="1200" dirty="0">
                <a:solidFill>
                  <a:schemeClr val="tx1"/>
                </a:solidFill>
                <a:effectLst/>
                <a:latin typeface="+mn-lt"/>
                <a:ea typeface="+mn-ea"/>
                <a:cs typeface="+mn-cs"/>
              </a:rPr>
              <a:t>. I treated infrastructure like software—creating reusable 'Legos' for Networking, Storage, and Compute.</a:t>
            </a:r>
          </a:p>
          <a:p>
            <a:r>
              <a:rPr lang="en-US" sz="1200" b="1" i="0" kern="1200" dirty="0">
                <a:solidFill>
                  <a:schemeClr val="tx1"/>
                </a:solidFill>
                <a:effectLst/>
                <a:latin typeface="+mn-lt"/>
                <a:ea typeface="+mn-ea"/>
                <a:cs typeface="+mn-cs"/>
              </a:rPr>
              <a:t>The Logic:</a:t>
            </a:r>
            <a:r>
              <a:rPr lang="en-US" sz="1200" b="0" i="0" kern="1200" dirty="0">
                <a:solidFill>
                  <a:schemeClr val="tx1"/>
                </a:solidFill>
                <a:effectLst/>
                <a:latin typeface="+mn-lt"/>
                <a:ea typeface="+mn-ea"/>
                <a:cs typeface="+mn-cs"/>
              </a:rPr>
              <a:t> I used </a:t>
            </a:r>
            <a:r>
              <a:rPr lang="en-US" sz="1200" b="1" i="0" kern="1200" dirty="0">
                <a:solidFill>
                  <a:schemeClr val="tx1"/>
                </a:solidFill>
                <a:effectLst/>
                <a:latin typeface="+mn-lt"/>
                <a:ea typeface="+mn-ea"/>
                <a:cs typeface="+mn-cs"/>
              </a:rPr>
              <a:t>Idempotency</a:t>
            </a:r>
            <a:r>
              <a:rPr lang="en-US" sz="1200" b="0" i="0" kern="1200" dirty="0">
                <a:solidFill>
                  <a:schemeClr val="tx1"/>
                </a:solidFill>
                <a:effectLst/>
                <a:latin typeface="+mn-lt"/>
                <a:ea typeface="+mn-ea"/>
                <a:cs typeface="+mn-cs"/>
              </a:rPr>
              <a:t> to our advantage. We can run this code 100 times, and if the environment already matches the code, Bicep makes zero changes. This provides a safety net that manual deployments can never offer."</a:t>
            </a:r>
          </a:p>
          <a:p>
            <a:endParaRPr lang="en-IN" dirty="0"/>
          </a:p>
          <a:p>
            <a:endParaRPr lang="en-IN" dirty="0"/>
          </a:p>
          <a:p>
            <a:r>
              <a:rPr lang="en-US" sz="1200" b="1" i="0" kern="1200" dirty="0">
                <a:solidFill>
                  <a:schemeClr val="tx1"/>
                </a:solidFill>
                <a:effectLst/>
                <a:latin typeface="+mn-lt"/>
                <a:ea typeface="+mn-ea"/>
                <a:cs typeface="+mn-cs"/>
              </a:rPr>
              <a:t>Switch to VS Code (Bicep).</a:t>
            </a:r>
            <a:r>
              <a:rPr lang="en-US" sz="1200" b="0" i="0" kern="1200" dirty="0">
                <a:solidFill>
                  <a:schemeClr val="tx1"/>
                </a:solidFill>
                <a:effectLst/>
                <a:latin typeface="+mn-lt"/>
                <a:ea typeface="+mn-ea"/>
                <a:cs typeface="+mn-cs"/>
              </a:rPr>
              <a:t> Show your </a:t>
            </a:r>
            <a:r>
              <a:rPr lang="en-US" sz="1200" b="0" i="0" kern="1200" dirty="0" err="1">
                <a:solidFill>
                  <a:schemeClr val="tx1"/>
                </a:solidFill>
                <a:effectLst/>
                <a:latin typeface="+mn-lt"/>
                <a:ea typeface="+mn-ea"/>
                <a:cs typeface="+mn-cs"/>
              </a:rPr>
              <a:t>main.bicep</a:t>
            </a:r>
            <a:r>
              <a:rPr lang="en-US" sz="1200" b="0" i="0" kern="1200" dirty="0">
                <a:solidFill>
                  <a:schemeClr val="tx1"/>
                </a:solidFill>
                <a:effectLst/>
                <a:latin typeface="+mn-lt"/>
                <a:ea typeface="+mn-ea"/>
                <a:cs typeface="+mn-cs"/>
              </a:rPr>
              <a:t> and your modules/ folder. Highlight the </a:t>
            </a:r>
            <a:r>
              <a:rPr lang="en-US" sz="1200" b="1" i="0" kern="1200" dirty="0">
                <a:solidFill>
                  <a:schemeClr val="tx1"/>
                </a:solidFill>
                <a:effectLst/>
                <a:latin typeface="+mn-lt"/>
                <a:ea typeface="+mn-ea"/>
                <a:cs typeface="+mn-cs"/>
              </a:rPr>
              <a:t>NSG rules</a:t>
            </a:r>
            <a:r>
              <a:rPr lang="en-US" sz="1200" b="0" i="0" kern="1200" dirty="0">
                <a:solidFill>
                  <a:schemeClr val="tx1"/>
                </a:solidFill>
                <a:effectLst/>
                <a:latin typeface="+mn-lt"/>
                <a:ea typeface="+mn-ea"/>
                <a:cs typeface="+mn-cs"/>
              </a:rPr>
              <a:t>.</a:t>
            </a:r>
            <a:endParaRPr lang="en-IN" dirty="0"/>
          </a:p>
        </p:txBody>
      </p:sp>
      <p:sp>
        <p:nvSpPr>
          <p:cNvPr id="4" name="Slide Number Placeholder 3"/>
          <p:cNvSpPr>
            <a:spLocks noGrp="1"/>
          </p:cNvSpPr>
          <p:nvPr>
            <p:ph type="sldNum" sz="quarter" idx="5"/>
          </p:nvPr>
        </p:nvSpPr>
        <p:spPr/>
        <p:txBody>
          <a:bodyPr/>
          <a:lstStyle/>
          <a:p>
            <a:fld id="{D060679C-80C7-4E7D-9614-ABA41C5B2858}" type="slidenum">
              <a:rPr lang="en-US" smtClean="0"/>
              <a:t>5</a:t>
            </a:fld>
            <a:endParaRPr lang="en-US" dirty="0"/>
          </a:p>
        </p:txBody>
      </p:sp>
    </p:spTree>
    <p:extLst>
      <p:ext uri="{BB962C8B-B14F-4D97-AF65-F5344CB8AC3E}">
        <p14:creationId xmlns:p14="http://schemas.microsoft.com/office/powerpoint/2010/main" val="471323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Networking Hardening (THE TECHNICAL PEAK)</a:t>
            </a:r>
          </a:p>
          <a:p>
            <a:r>
              <a:rPr lang="en-US" sz="1200" b="1" i="0" kern="1200" dirty="0">
                <a:solidFill>
                  <a:schemeClr val="tx1"/>
                </a:solidFill>
                <a:effectLst/>
                <a:latin typeface="+mn-lt"/>
                <a:ea typeface="+mn-ea"/>
                <a:cs typeface="+mn-cs"/>
              </a:rPr>
              <a:t>Spend the most time here.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"Let’s talk about the 'Plumbing.’ i.e. VNET. This provides logical isolation of resources from public network. </a:t>
            </a:r>
            <a:r>
              <a:rPr lang="en-US" sz="1200" b="0" i="0" kern="1200" dirty="0" err="1">
                <a:solidFill>
                  <a:schemeClr val="tx1"/>
                </a:solidFill>
                <a:effectLst/>
                <a:latin typeface="+mn-lt"/>
                <a:ea typeface="+mn-ea"/>
                <a:cs typeface="+mn-cs"/>
              </a:rPr>
              <a:t>VNets</a:t>
            </a:r>
            <a:r>
              <a:rPr lang="en-US" sz="1200" b="0" i="0" kern="1200" dirty="0">
                <a:solidFill>
                  <a:schemeClr val="tx1"/>
                </a:solidFill>
                <a:effectLst/>
                <a:latin typeface="+mn-lt"/>
                <a:ea typeface="+mn-ea"/>
                <a:cs typeface="+mn-cs"/>
              </a:rPr>
              <a:t> are defined by an address space (e.g., 10.0.0.0/16) and can include multiple subnets. </a:t>
            </a:r>
          </a:p>
          <a:p>
            <a:r>
              <a:rPr lang="en-US" sz="1200" b="0" i="0" kern="1200" dirty="0">
                <a:solidFill>
                  <a:schemeClr val="tx1"/>
                </a:solidFill>
                <a:effectLst/>
                <a:latin typeface="+mn-lt"/>
                <a:ea typeface="+mn-ea"/>
                <a:cs typeface="+mn-cs"/>
              </a:rPr>
              <a:t>This is the technical heart of the project. I segmented the </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while navigating Azure’s </a:t>
            </a:r>
            <a:r>
              <a:rPr lang="en-US" sz="1200" b="1" i="0" kern="1200" dirty="0">
                <a:solidFill>
                  <a:schemeClr val="tx1"/>
                </a:solidFill>
                <a:effectLst/>
                <a:latin typeface="+mn-lt"/>
                <a:ea typeface="+mn-ea"/>
                <a:cs typeface="+mn-cs"/>
              </a:rPr>
              <a:t>5-IP reservation rule</a:t>
            </a:r>
            <a:r>
              <a:rPr lang="en-US" sz="1200" b="0" i="0" kern="1200" dirty="0">
                <a:solidFill>
                  <a:schemeClr val="tx1"/>
                </a:solidFill>
                <a:effectLst/>
                <a:latin typeface="+mn-lt"/>
                <a:ea typeface="+mn-ea"/>
                <a:cs typeface="+mn-cs"/>
              </a:rPr>
              <a:t>—a small detail that causes massive deployment failures if ignored.</a:t>
            </a:r>
          </a:p>
          <a:p>
            <a:r>
              <a:rPr lang="en-US" sz="1200" b="0" i="0" kern="1200" dirty="0">
                <a:solidFill>
                  <a:schemeClr val="tx1"/>
                </a:solidFill>
                <a:effectLst/>
                <a:latin typeface="+mn-lt"/>
                <a:ea typeface="+mn-ea"/>
                <a:cs typeface="+mn-cs"/>
              </a:rPr>
              <a:t>A subnet is a logical subdivision of a </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created to allocate a portion of the </a:t>
            </a:r>
            <a:r>
              <a:rPr lang="en-US" sz="1200" b="0" i="0" kern="1200" dirty="0" err="1">
                <a:solidFill>
                  <a:schemeClr val="tx1"/>
                </a:solidFill>
                <a:effectLst/>
                <a:latin typeface="+mn-lt"/>
                <a:ea typeface="+mn-ea"/>
                <a:cs typeface="+mn-cs"/>
              </a:rPr>
              <a:t>VNet's</a:t>
            </a:r>
            <a:r>
              <a:rPr lang="en-US" sz="1200" b="0" i="0" kern="1200" dirty="0">
                <a:solidFill>
                  <a:schemeClr val="tx1"/>
                </a:solidFill>
                <a:effectLst/>
                <a:latin typeface="+mn-lt"/>
                <a:ea typeface="+mn-ea"/>
                <a:cs typeface="+mn-cs"/>
              </a:rPr>
              <a:t> address space (e.g., 10.0.1.0/24).</a:t>
            </a:r>
          </a:p>
          <a:p>
            <a:r>
              <a:rPr lang="en-IN" sz="1200" b="1" i="0" kern="1200" dirty="0">
                <a:solidFill>
                  <a:schemeClr val="tx1"/>
                </a:solidFill>
                <a:effectLst/>
                <a:latin typeface="+mn-lt"/>
                <a:ea typeface="+mn-ea"/>
                <a:cs typeface="+mn-cs"/>
              </a:rPr>
              <a:t>The Secret Sauce:</a:t>
            </a:r>
            <a:r>
              <a:rPr lang="en-IN" sz="1200" b="0" i="0" kern="1200" dirty="0">
                <a:solidFill>
                  <a:schemeClr val="tx1"/>
                </a:solidFill>
                <a:effectLst/>
                <a:latin typeface="+mn-lt"/>
                <a:ea typeface="+mn-ea"/>
                <a:cs typeface="+mn-cs"/>
              </a:rPr>
              <a:t> I used </a:t>
            </a:r>
            <a:r>
              <a:rPr lang="en-IN" sz="1200" b="1" i="0" kern="1200" dirty="0">
                <a:solidFill>
                  <a:schemeClr val="tx1"/>
                </a:solidFill>
                <a:effectLst/>
                <a:latin typeface="+mn-lt"/>
                <a:ea typeface="+mn-ea"/>
                <a:cs typeface="+mn-cs"/>
              </a:rPr>
              <a:t>Regional </a:t>
            </a:r>
            <a:r>
              <a:rPr lang="en-IN" sz="1200" b="1" i="0" kern="1200" dirty="0" err="1">
                <a:solidFill>
                  <a:schemeClr val="tx1"/>
                </a:solidFill>
                <a:effectLst/>
                <a:latin typeface="+mn-lt"/>
                <a:ea typeface="+mn-ea"/>
                <a:cs typeface="+mn-cs"/>
              </a:rPr>
              <a:t>VNet</a:t>
            </a:r>
            <a:r>
              <a:rPr lang="en-IN" sz="1200" b="1" i="0" kern="1200" dirty="0">
                <a:solidFill>
                  <a:schemeClr val="tx1"/>
                </a:solidFill>
                <a:effectLst/>
                <a:latin typeface="+mn-lt"/>
                <a:ea typeface="+mn-ea"/>
                <a:cs typeface="+mn-cs"/>
              </a:rPr>
              <a:t> Integration</a:t>
            </a:r>
            <a:r>
              <a:rPr lang="en-IN" sz="1200" b="0" i="0" kern="1200" dirty="0">
                <a:solidFill>
                  <a:schemeClr val="tx1"/>
                </a:solidFill>
                <a:effectLst/>
                <a:latin typeface="+mn-lt"/>
                <a:ea typeface="+mn-ea"/>
                <a:cs typeface="+mn-cs"/>
              </a:rPr>
              <a:t>. The App Service talks to the SQL Database over the </a:t>
            </a:r>
            <a:r>
              <a:rPr lang="en-IN" sz="1200" b="1" i="0" kern="1200" dirty="0">
                <a:solidFill>
                  <a:schemeClr val="tx1"/>
                </a:solidFill>
                <a:effectLst/>
                <a:latin typeface="+mn-lt"/>
                <a:ea typeface="+mn-ea"/>
                <a:cs typeface="+mn-cs"/>
              </a:rPr>
              <a:t>Azure Private Backbone</a:t>
            </a:r>
            <a:r>
              <a:rPr lang="en-IN" sz="1200" b="0" i="0" kern="1200" dirty="0">
                <a:solidFill>
                  <a:schemeClr val="tx1"/>
                </a:solidFill>
                <a:effectLst/>
                <a:latin typeface="+mn-lt"/>
                <a:ea typeface="+mn-ea"/>
                <a:cs typeface="+mn-cs"/>
              </a:rPr>
              <a:t>, not the internet.</a:t>
            </a:r>
          </a:p>
          <a:p>
            <a:r>
              <a:rPr lang="en-IN" sz="1200" b="1" i="0" kern="1200" dirty="0">
                <a:solidFill>
                  <a:schemeClr val="tx1"/>
                </a:solidFill>
                <a:effectLst/>
                <a:latin typeface="+mn-lt"/>
                <a:ea typeface="+mn-ea"/>
                <a:cs typeface="+mn-cs"/>
              </a:rPr>
              <a:t>The Result:</a:t>
            </a:r>
            <a:r>
              <a:rPr lang="en-IN" sz="1200" b="0" i="0" kern="1200" dirty="0">
                <a:solidFill>
                  <a:schemeClr val="tx1"/>
                </a:solidFill>
                <a:effectLst/>
                <a:latin typeface="+mn-lt"/>
                <a:ea typeface="+mn-ea"/>
                <a:cs typeface="+mn-cs"/>
              </a:rPr>
              <a:t> The database has </a:t>
            </a:r>
            <a:r>
              <a:rPr lang="en-IN" sz="1200" b="1" i="0" kern="1200" dirty="0">
                <a:solidFill>
                  <a:schemeClr val="tx1"/>
                </a:solidFill>
                <a:effectLst/>
                <a:latin typeface="+mn-lt"/>
                <a:ea typeface="+mn-ea"/>
                <a:cs typeface="+mn-cs"/>
              </a:rPr>
              <a:t>zero public endpoint</a:t>
            </a:r>
            <a:r>
              <a:rPr lang="en-IN" sz="1200" b="0" i="0" kern="1200" dirty="0">
                <a:solidFill>
                  <a:schemeClr val="tx1"/>
                </a:solidFill>
                <a:effectLst/>
                <a:latin typeface="+mn-lt"/>
                <a:ea typeface="+mn-ea"/>
                <a:cs typeface="+mn-cs"/>
              </a:rPr>
              <a:t>. It’s locked behind Port 1433 and accessible only via our specific App Subnet. It’s essentially a digital vault."</a:t>
            </a:r>
          </a:p>
          <a:p>
            <a:endParaRPr lang="en-IN" dirty="0"/>
          </a:p>
        </p:txBody>
      </p:sp>
      <p:sp>
        <p:nvSpPr>
          <p:cNvPr id="4" name="Slide Number Placeholder 3"/>
          <p:cNvSpPr>
            <a:spLocks noGrp="1"/>
          </p:cNvSpPr>
          <p:nvPr>
            <p:ph type="sldNum" sz="quarter" idx="5"/>
          </p:nvPr>
        </p:nvSpPr>
        <p:spPr/>
        <p:txBody>
          <a:bodyPr/>
          <a:lstStyle/>
          <a:p>
            <a:fld id="{D060679C-80C7-4E7D-9614-ABA41C5B2858}" type="slidenum">
              <a:rPr lang="en-US" smtClean="0"/>
              <a:t>6</a:t>
            </a:fld>
            <a:endParaRPr lang="en-US" dirty="0"/>
          </a:p>
        </p:txBody>
      </p:sp>
    </p:spTree>
    <p:extLst>
      <p:ext uri="{BB962C8B-B14F-4D97-AF65-F5344CB8AC3E}">
        <p14:creationId xmlns:p14="http://schemas.microsoft.com/office/powerpoint/2010/main" val="2433882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For critical resources we </a:t>
            </a:r>
            <a:r>
              <a:rPr lang="en-US" sz="1200" b="1" i="0" kern="1200" dirty="0" err="1">
                <a:solidFill>
                  <a:schemeClr val="tx1"/>
                </a:solidFill>
                <a:effectLst/>
                <a:latin typeface="+mn-lt"/>
                <a:ea typeface="+mn-ea"/>
                <a:cs typeface="+mn-cs"/>
              </a:rPr>
              <a:t>donot</a:t>
            </a:r>
            <a:r>
              <a:rPr lang="en-US" sz="1200" b="1" i="0" kern="1200" dirty="0">
                <a:solidFill>
                  <a:schemeClr val="tx1"/>
                </a:solidFill>
                <a:effectLst/>
                <a:latin typeface="+mn-lt"/>
                <a:ea typeface="+mn-ea"/>
                <a:cs typeface="+mn-cs"/>
              </a:rPr>
              <a:t> want them to be accessible on any public network we restrict access to certain resources by locking ports (NSG) and controlling traffic to the resources (Route 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Critical Resource like </a:t>
            </a:r>
            <a:r>
              <a:rPr lang="en-US" sz="1200" b="1" i="0" kern="1200" dirty="0" err="1">
                <a:solidFill>
                  <a:schemeClr val="tx1"/>
                </a:solidFill>
                <a:effectLst/>
                <a:latin typeface="+mn-lt"/>
                <a:ea typeface="+mn-ea"/>
                <a:cs typeface="+mn-cs"/>
              </a:rPr>
              <a:t>Sql</a:t>
            </a:r>
            <a:r>
              <a:rPr lang="en-US" sz="1200" b="1" i="0" kern="1200" dirty="0">
                <a:solidFill>
                  <a:schemeClr val="tx1"/>
                </a:solidFill>
                <a:effectLst/>
                <a:latin typeface="+mn-lt"/>
                <a:ea typeface="+mn-ea"/>
                <a:cs typeface="+mn-cs"/>
              </a:rPr>
              <a:t> database.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The Result:</a:t>
            </a:r>
            <a:r>
              <a:rPr lang="en-US" sz="1200" b="0" i="0" kern="1200" dirty="0">
                <a:solidFill>
                  <a:schemeClr val="tx1"/>
                </a:solidFill>
                <a:effectLst/>
                <a:latin typeface="+mn-lt"/>
                <a:ea typeface="+mn-ea"/>
                <a:cs typeface="+mn-cs"/>
              </a:rPr>
              <a:t> The database has </a:t>
            </a:r>
            <a:r>
              <a:rPr lang="en-US" sz="1200" b="1" i="0" kern="1200" dirty="0">
                <a:solidFill>
                  <a:schemeClr val="tx1"/>
                </a:solidFill>
                <a:effectLst/>
                <a:latin typeface="+mn-lt"/>
                <a:ea typeface="+mn-ea"/>
                <a:cs typeface="+mn-cs"/>
              </a:rPr>
              <a:t>no Public Endpoint</a:t>
            </a:r>
            <a:r>
              <a:rPr lang="en-US" sz="1200" b="0" i="0" kern="1200" dirty="0">
                <a:solidFill>
                  <a:schemeClr val="tx1"/>
                </a:solidFill>
                <a:effectLst/>
                <a:latin typeface="+mn-lt"/>
                <a:ea typeface="+mn-ea"/>
                <a:cs typeface="+mn-cs"/>
              </a:rPr>
              <a:t>. Even with the right password, you cannot reach this database from the internet. It is only accessible via Port 1433 from our specific App Subnet using </a:t>
            </a:r>
            <a:r>
              <a:rPr lang="en-US" sz="1200" b="1" i="0" kern="1200" dirty="0">
                <a:solidFill>
                  <a:schemeClr val="tx1"/>
                </a:solidFill>
                <a:effectLst/>
                <a:latin typeface="+mn-lt"/>
                <a:ea typeface="+mn-ea"/>
                <a:cs typeface="+mn-cs"/>
              </a:rPr>
              <a:t>Network Security Groups (NSGs)</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Security is enforced at the </a:t>
            </a:r>
            <a:r>
              <a:rPr lang="en-US" sz="1200" b="0" i="0" kern="1200" dirty="0" err="1">
                <a:solidFill>
                  <a:schemeClr val="tx1"/>
                </a:solidFill>
                <a:effectLst/>
                <a:latin typeface="+mn-lt"/>
                <a:ea typeface="+mn-ea"/>
                <a:cs typeface="+mn-cs"/>
              </a:rPr>
              <a:t>VNet</a:t>
            </a:r>
            <a:r>
              <a:rPr lang="en-US" sz="1200" b="0" i="0" kern="1200" dirty="0">
                <a:solidFill>
                  <a:schemeClr val="tx1"/>
                </a:solidFill>
                <a:effectLst/>
                <a:latin typeface="+mn-lt"/>
                <a:ea typeface="+mn-ea"/>
                <a:cs typeface="+mn-cs"/>
              </a:rPr>
              <a:t> level using tools like Network Security Groups (NSGs) and Azure Firewall.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It is Secure by default: Apply NSGs at subnet or NIC level; restrict inbound/outbound traffic.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D060679C-80C7-4E7D-9614-ABA41C5B2858}" type="slidenum">
              <a:rPr lang="en-US" smtClean="0"/>
              <a:t>7</a:t>
            </a:fld>
            <a:endParaRPr lang="en-US" dirty="0"/>
          </a:p>
        </p:txBody>
      </p:sp>
    </p:spTree>
    <p:extLst>
      <p:ext uri="{BB962C8B-B14F-4D97-AF65-F5344CB8AC3E}">
        <p14:creationId xmlns:p14="http://schemas.microsoft.com/office/powerpoint/2010/main" val="1960840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1" i="0" kern="1200" dirty="0">
                <a:solidFill>
                  <a:schemeClr val="tx1"/>
                </a:solidFill>
                <a:effectLst/>
                <a:latin typeface="+mn-lt"/>
                <a:ea typeface="+mn-ea"/>
                <a:cs typeface="+mn-cs"/>
              </a:rPr>
              <a:t>The Automation Pipeline (ACTION: Show YAML Workflow)</a:t>
            </a:r>
          </a:p>
          <a:p>
            <a:r>
              <a:rPr lang="en-US" sz="1200" b="0" i="0" kern="1200" dirty="0">
                <a:solidFill>
                  <a:schemeClr val="tx1"/>
                </a:solidFill>
                <a:effectLst/>
                <a:latin typeface="+mn-lt"/>
                <a:ea typeface="+mn-ea"/>
                <a:cs typeface="+mn-cs"/>
              </a:rPr>
              <a:t>GitHub Actions automates your software development lifecycle by running custom scripts (workflows) directly from your repository on code events like push or </a:t>
            </a:r>
            <a:r>
              <a:rPr lang="en-US" sz="1200" b="0" i="0" kern="1200" dirty="0" err="1">
                <a:solidFill>
                  <a:schemeClr val="tx1"/>
                </a:solidFill>
                <a:effectLst/>
                <a:latin typeface="+mn-lt"/>
                <a:ea typeface="+mn-ea"/>
                <a:cs typeface="+mn-cs"/>
              </a:rPr>
              <a:t>pull_request</a:t>
            </a:r>
            <a:r>
              <a:rPr lang="en-US" sz="1200" b="0" i="0" kern="1200" dirty="0">
                <a:solidFill>
                  <a:schemeClr val="tx1"/>
                </a:solidFill>
                <a:effectLst/>
                <a:latin typeface="+mn-lt"/>
                <a:ea typeface="+mn-ea"/>
                <a:cs typeface="+mn-cs"/>
              </a:rPr>
              <a:t>. It uses YAML files to define jobs—such as building, testing, and deploying—which are executed on GitHub-hosted virtual machines (runners) and securely authenticate with Azure via service principals or OIDC to deploy applications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Core Components &amp; Workflow</a:t>
            </a:r>
          </a:p>
          <a:p>
            <a:r>
              <a:rPr lang="en-US" sz="1200" b="0" i="0" kern="1200" dirty="0">
                <a:solidFill>
                  <a:schemeClr val="tx1"/>
                </a:solidFill>
                <a:effectLst/>
                <a:latin typeface="+mn-lt"/>
                <a:ea typeface="+mn-ea"/>
                <a:cs typeface="+mn-cs"/>
              </a:rPr>
              <a:t>			1. The Trigger (Event): Everything starts with an event in your GitHub repository, such as a code push, a pull request, or a manual button click.</a:t>
            </a:r>
          </a:p>
          <a:p>
            <a:r>
              <a:rPr lang="en-US" sz="1200" b="0" i="0" kern="1200" dirty="0">
                <a:solidFill>
                  <a:schemeClr val="tx1"/>
                </a:solidFill>
                <a:effectLst/>
                <a:latin typeface="+mn-lt"/>
                <a:ea typeface="+mn-ea"/>
                <a:cs typeface="+mn-cs"/>
              </a:rPr>
              <a:t>			2. The Workflow File: You define the automation steps in a YAML file located in the .</a:t>
            </a:r>
            <a:r>
              <a:rPr lang="en-US" sz="1200" b="0" i="0" kern="1200" dirty="0" err="1">
                <a:solidFill>
                  <a:schemeClr val="tx1"/>
                </a:solidFill>
                <a:effectLst/>
                <a:latin typeface="+mn-lt"/>
                <a:ea typeface="+mn-ea"/>
                <a:cs typeface="+mn-cs"/>
              </a:rPr>
              <a:t>github</a:t>
            </a:r>
            <a:r>
              <a:rPr lang="en-US" sz="1200" b="0" i="0" kern="1200" dirty="0">
                <a:solidFill>
                  <a:schemeClr val="tx1"/>
                </a:solidFill>
                <a:effectLst/>
                <a:latin typeface="+mn-lt"/>
                <a:ea typeface="+mn-ea"/>
                <a:cs typeface="+mn-cs"/>
              </a:rPr>
              <a:t>/workflows/ directory of your repo.</a:t>
            </a:r>
          </a:p>
          <a:p>
            <a:r>
              <a:rPr lang="en-US" sz="1200" b="0" i="0" kern="1200" dirty="0">
                <a:solidFill>
                  <a:schemeClr val="tx1"/>
                </a:solidFill>
                <a:effectLst/>
                <a:latin typeface="+mn-lt"/>
                <a:ea typeface="+mn-ea"/>
                <a:cs typeface="+mn-cs"/>
              </a:rPr>
              <a:t>			3. The Runner (The Engine): When triggered, GitHub spins up a Runner—a fresh virtual machine (Linux, Windows, or macOS)—to execute your commands.</a:t>
            </a:r>
          </a:p>
          <a:p>
            <a:r>
              <a:rPr lang="en-US" sz="1200" b="0" i="0" kern="1200" dirty="0">
                <a:solidFill>
                  <a:schemeClr val="tx1"/>
                </a:solidFill>
                <a:effectLst/>
                <a:latin typeface="+mn-lt"/>
                <a:ea typeface="+mn-ea"/>
                <a:cs typeface="+mn-cs"/>
              </a:rPr>
              <a:t>			4. Jobs and Steps:</a:t>
            </a:r>
          </a:p>
          <a:p>
            <a:r>
              <a:rPr lang="en-US" sz="1200" b="0" i="0" kern="1200" dirty="0">
                <a:solidFill>
                  <a:schemeClr val="tx1"/>
                </a:solidFill>
                <a:effectLst/>
                <a:latin typeface="+mn-lt"/>
                <a:ea typeface="+mn-ea"/>
                <a:cs typeface="+mn-cs"/>
              </a:rPr>
              <a:t>			A Job is a collection of steps that run on the same runner.</a:t>
            </a:r>
          </a:p>
          <a:p>
            <a:r>
              <a:rPr lang="en-US" sz="1200" b="0" i="0" kern="1200" dirty="0">
                <a:solidFill>
                  <a:schemeClr val="tx1"/>
                </a:solidFill>
                <a:effectLst/>
                <a:latin typeface="+mn-lt"/>
                <a:ea typeface="+mn-ea"/>
                <a:cs typeface="+mn-cs"/>
              </a:rPr>
              <a:t>			Steps are individual tasks, such as checking out your code, building it, or running tests.</a:t>
            </a:r>
          </a:p>
          <a:p>
            <a:endParaRPr lang="en-US" sz="1200" b="0" i="0" kern="1200" dirty="0">
              <a:solidFill>
                <a:schemeClr val="tx1"/>
              </a:solidFill>
              <a:effectLst/>
              <a:latin typeface="+mn-lt"/>
              <a:ea typeface="+mn-ea"/>
              <a:cs typeface="+mn-cs"/>
            </a:endParaRPr>
          </a:p>
          <a:p>
            <a:endParaRPr lang="en-US" dirty="0"/>
          </a:p>
          <a:p>
            <a:endParaRPr lang="en-US" dirty="0"/>
          </a:p>
          <a:p>
            <a:r>
              <a:rPr lang="en-US" sz="1200" b="1" i="0" kern="1200" dirty="0">
                <a:solidFill>
                  <a:schemeClr val="tx1"/>
                </a:solidFill>
                <a:effectLst/>
                <a:latin typeface="+mn-lt"/>
                <a:ea typeface="+mn-ea"/>
                <a:cs typeface="+mn-cs"/>
              </a:rPr>
              <a:t>Switch to GitHub Actions Tab.</a:t>
            </a:r>
            <a:r>
              <a:rPr lang="en-US" sz="1200" b="0" i="0" kern="1200" dirty="0">
                <a:solidFill>
                  <a:schemeClr val="tx1"/>
                </a:solidFill>
                <a:effectLst/>
                <a:latin typeface="+mn-lt"/>
                <a:ea typeface="+mn-ea"/>
                <a:cs typeface="+mn-cs"/>
              </a:rPr>
              <a:t> Show a "Green" successful run. Click into a job to show the logs for the </a:t>
            </a:r>
            <a:r>
              <a:rPr lang="en-US" sz="1200" b="1" i="0" kern="1200" dirty="0">
                <a:solidFill>
                  <a:schemeClr val="tx1"/>
                </a:solidFill>
                <a:effectLst/>
                <a:latin typeface="+mn-lt"/>
                <a:ea typeface="+mn-ea"/>
                <a:cs typeface="+mn-cs"/>
              </a:rPr>
              <a:t>Bicep Deployment</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Zip Deploy</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8</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2 app service connected &amp; communicate with each other using azure domain</a:t>
            </a:r>
          </a:p>
          <a:p>
            <a:r>
              <a:rPr lang="en-US" dirty="0"/>
              <a:t>To automate them, Change commit in repo are deployed to them using </a:t>
            </a:r>
            <a:r>
              <a:rPr lang="en-US" dirty="0" err="1"/>
              <a:t>github</a:t>
            </a:r>
            <a:r>
              <a:rPr lang="en-US" dirty="0"/>
              <a:t> action</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automated the database just like the frontend. By integrating </a:t>
            </a:r>
            <a:r>
              <a:rPr lang="en-US" sz="1200" b="1" i="0" kern="1200" dirty="0">
                <a:solidFill>
                  <a:schemeClr val="tx1"/>
                </a:solidFill>
                <a:effectLst/>
                <a:latin typeface="+mn-lt"/>
                <a:ea typeface="+mn-ea"/>
                <a:cs typeface="+mn-cs"/>
              </a:rPr>
              <a:t>SQL DACPAC</a:t>
            </a:r>
            <a:r>
              <a:rPr lang="en-US" sz="1200" b="0" i="0" kern="1200" dirty="0">
                <a:solidFill>
                  <a:schemeClr val="tx1"/>
                </a:solidFill>
                <a:effectLst/>
                <a:latin typeface="+mn-lt"/>
                <a:ea typeface="+mn-ea"/>
                <a:cs typeface="+mn-cs"/>
              </a:rPr>
              <a:t> into the GitHub pipeline, we stopped the practice of DBAs running manual scripts. The pipeline compares our Git 'Source of Truth' to the live DB and applies only the changes needed. It’s version-controlled </a:t>
            </a:r>
            <a:r>
              <a:rPr lang="en-US" sz="1200" b="1" i="0" kern="1200" dirty="0">
                <a:solidFill>
                  <a:schemeClr val="tx1"/>
                </a:solidFill>
                <a:effectLst/>
                <a:latin typeface="+mn-lt"/>
                <a:ea typeface="+mn-ea"/>
                <a:cs typeface="+mn-cs"/>
              </a:rPr>
              <a:t>Schema Evolution</a:t>
            </a:r>
            <a:r>
              <a:rPr lang="en-US" sz="1200" b="0" i="0" kern="1200" dirty="0">
                <a:solidFill>
                  <a:schemeClr val="tx1"/>
                </a:solidFill>
                <a:effectLst/>
                <a:latin typeface="+mn-lt"/>
                <a:ea typeface="+mn-ea"/>
                <a:cs typeface="+mn-cs"/>
              </a:rPr>
              <a:t>."</a:t>
            </a:r>
          </a:p>
          <a:p>
            <a:br>
              <a:rPr lang="en-US" dirty="0"/>
            </a:br>
            <a:endParaRPr lang="en-IN" dirty="0"/>
          </a:p>
        </p:txBody>
      </p:sp>
      <p:sp>
        <p:nvSpPr>
          <p:cNvPr id="4" name="Slide Number Placeholder 3"/>
          <p:cNvSpPr>
            <a:spLocks noGrp="1"/>
          </p:cNvSpPr>
          <p:nvPr>
            <p:ph type="sldNum" sz="quarter" idx="5"/>
          </p:nvPr>
        </p:nvSpPr>
        <p:spPr/>
        <p:txBody>
          <a:bodyPr/>
          <a:lstStyle/>
          <a:p>
            <a:fld id="{D060679C-80C7-4E7D-9614-ABA41C5B2858}" type="slidenum">
              <a:rPr lang="en-US" smtClean="0"/>
              <a:t>10</a:t>
            </a:fld>
            <a:endParaRPr lang="en-US" dirty="0"/>
          </a:p>
        </p:txBody>
      </p:sp>
    </p:spTree>
    <p:extLst>
      <p:ext uri="{BB962C8B-B14F-4D97-AF65-F5344CB8AC3E}">
        <p14:creationId xmlns:p14="http://schemas.microsoft.com/office/powerpoint/2010/main" val="4227061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Monitoring &amp; Observability (ACTION: Show Azure App Insights)</a:t>
            </a:r>
          </a:p>
          <a:p>
            <a:r>
              <a:rPr lang="en-IN" sz="1200" b="0" i="0" kern="1200" dirty="0">
                <a:solidFill>
                  <a:schemeClr val="tx1"/>
                </a:solidFill>
                <a:effectLst/>
                <a:latin typeface="+mn-lt"/>
                <a:ea typeface="+mn-ea"/>
                <a:cs typeface="+mn-cs"/>
              </a:rPr>
              <a:t>Cross-cutting concerns - </a:t>
            </a:r>
            <a:r>
              <a:rPr lang="en-US" sz="1200" b="0" i="0" kern="1200" dirty="0">
                <a:solidFill>
                  <a:schemeClr val="tx1"/>
                </a:solidFill>
                <a:effectLst/>
                <a:latin typeface="+mn-lt"/>
                <a:ea typeface="+mn-ea"/>
                <a:cs typeface="+mn-cs"/>
              </a:rPr>
              <a:t>It is a non-functional requirement that impacts the entire application, spanning multiple components and layers, rather than being confined to a single module.</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"Automation without visibility is dangerous. We use </a:t>
            </a:r>
            <a:r>
              <a:rPr lang="en-US" sz="1200" b="1" i="0" kern="1200" dirty="0">
                <a:solidFill>
                  <a:schemeClr val="tx1"/>
                </a:solidFill>
                <a:effectLst/>
                <a:latin typeface="+mn-lt"/>
                <a:ea typeface="+mn-ea"/>
                <a:cs typeface="+mn-cs"/>
              </a:rPr>
              <a:t>Azure App Insights</a:t>
            </a:r>
            <a:r>
              <a:rPr lang="en-US" sz="1200" b="0" i="0" kern="1200" dirty="0">
                <a:solidFill>
                  <a:schemeClr val="tx1"/>
                </a:solidFill>
                <a:effectLst/>
                <a:latin typeface="+mn-lt"/>
                <a:ea typeface="+mn-ea"/>
                <a:cs typeface="+mn-cs"/>
              </a:rPr>
              <a:t> to track live health. During the POC, this visibility allowed us to catch a SQL connection-pooling issue in minutes—not hours. We reduced our </a:t>
            </a:r>
            <a:r>
              <a:rPr lang="en-US" sz="1200" b="1" i="0" kern="1200" dirty="0">
                <a:solidFill>
                  <a:schemeClr val="tx1"/>
                </a:solidFill>
                <a:effectLst/>
                <a:latin typeface="+mn-lt"/>
                <a:ea typeface="+mn-ea"/>
                <a:cs typeface="+mn-cs"/>
              </a:rPr>
              <a:t>Mean Time to Recovery (MTTR) by 40%</a:t>
            </a:r>
            <a:r>
              <a:rPr lang="en-US" sz="1200" b="0" i="0" kern="1200" dirty="0">
                <a:solidFill>
                  <a:schemeClr val="tx1"/>
                </a:solidFill>
                <a:effectLst/>
                <a:latin typeface="+mn-lt"/>
                <a:ea typeface="+mn-ea"/>
                <a:cs typeface="+mn-cs"/>
              </a:rPr>
              <a:t>. In short: we don't just deploy faster; we fix faster."</a:t>
            </a:r>
            <a:endParaRPr lang="en-IN" dirty="0"/>
          </a:p>
        </p:txBody>
      </p:sp>
      <p:sp>
        <p:nvSpPr>
          <p:cNvPr id="4" name="Slide Number Placeholder 3"/>
          <p:cNvSpPr>
            <a:spLocks noGrp="1"/>
          </p:cNvSpPr>
          <p:nvPr>
            <p:ph type="sldNum" sz="quarter" idx="5"/>
          </p:nvPr>
        </p:nvSpPr>
        <p:spPr/>
        <p:txBody>
          <a:bodyPr/>
          <a:lstStyle/>
          <a:p>
            <a:fld id="{D060679C-80C7-4E7D-9614-ABA41C5B2858}" type="slidenum">
              <a:rPr lang="en-US" smtClean="0"/>
              <a:t>11</a:t>
            </a:fld>
            <a:endParaRPr lang="en-US" dirty="0"/>
          </a:p>
        </p:txBody>
      </p:sp>
    </p:spTree>
    <p:extLst>
      <p:ext uri="{BB962C8B-B14F-4D97-AF65-F5344CB8AC3E}">
        <p14:creationId xmlns:p14="http://schemas.microsoft.com/office/powerpoint/2010/main" val="3326985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 Challenges &amp; Optimization</a:t>
            </a:r>
          </a:p>
          <a:p>
            <a:r>
              <a:rPr lang="en-US" sz="1200" b="0" i="0" kern="1200" dirty="0">
                <a:solidFill>
                  <a:schemeClr val="tx1"/>
                </a:solidFill>
                <a:effectLst/>
                <a:latin typeface="+mn-lt"/>
                <a:ea typeface="+mn-ea"/>
                <a:cs typeface="+mn-cs"/>
              </a:rPr>
              <a:t>"No POC is perfect. We hit hurdles with artifact persistence, which I solved by consolidating build jobs to ensure our /</a:t>
            </a:r>
            <a:r>
              <a:rPr lang="en-US" sz="1200" b="0" i="0" kern="1200" dirty="0" err="1">
                <a:solidFill>
                  <a:schemeClr val="tx1"/>
                </a:solidFill>
                <a:effectLst/>
                <a:latin typeface="+mn-lt"/>
                <a:ea typeface="+mn-ea"/>
                <a:cs typeface="+mn-cs"/>
              </a:rPr>
              <a:t>dist</a:t>
            </a:r>
            <a:r>
              <a:rPr lang="en-US" sz="1200" b="0" i="0" kern="1200" dirty="0">
                <a:solidFill>
                  <a:schemeClr val="tx1"/>
                </a:solidFill>
                <a:effectLst/>
                <a:latin typeface="+mn-lt"/>
                <a:ea typeface="+mn-ea"/>
                <a:cs typeface="+mn-cs"/>
              </a:rPr>
              <a:t> folders stayed intact within our workflow.</a:t>
            </a:r>
          </a:p>
          <a:p>
            <a:r>
              <a:rPr lang="en-US" sz="1200" b="0" i="0" kern="1200" dirty="0">
                <a:solidFill>
                  <a:schemeClr val="tx1"/>
                </a:solidFill>
                <a:effectLst/>
                <a:latin typeface="+mn-lt"/>
                <a:ea typeface="+mn-ea"/>
                <a:cs typeface="+mn-cs"/>
              </a:rPr>
              <a:t>I also looked at the bottom line. By </a:t>
            </a:r>
            <a:r>
              <a:rPr lang="en-US" sz="1200" b="1" i="0" kern="1200" dirty="0">
                <a:solidFill>
                  <a:schemeClr val="tx1"/>
                </a:solidFill>
                <a:effectLst/>
                <a:latin typeface="+mn-lt"/>
                <a:ea typeface="+mn-ea"/>
                <a:cs typeface="+mn-cs"/>
              </a:rPr>
              <a:t>Right-Sizing</a:t>
            </a:r>
            <a:r>
              <a:rPr lang="en-US" sz="1200" b="0" i="0" kern="1200" dirty="0">
                <a:solidFill>
                  <a:schemeClr val="tx1"/>
                </a:solidFill>
                <a:effectLst/>
                <a:latin typeface="+mn-lt"/>
                <a:ea typeface="+mn-ea"/>
                <a:cs typeface="+mn-cs"/>
              </a:rPr>
              <a:t> our SQL Managed Instance from 'Business Critical' to 'General Purpose' for the POC, I projected a </a:t>
            </a:r>
            <a:r>
              <a:rPr lang="en-US" sz="1200" b="1" i="0" kern="1200" dirty="0">
                <a:solidFill>
                  <a:schemeClr val="tx1"/>
                </a:solidFill>
                <a:effectLst/>
                <a:latin typeface="+mn-lt"/>
                <a:ea typeface="+mn-ea"/>
                <a:cs typeface="+mn-cs"/>
              </a:rPr>
              <a:t>25% cost saving</a:t>
            </a:r>
            <a:r>
              <a:rPr lang="en-US" sz="1200" b="0" i="0" kern="1200" dirty="0">
                <a:solidFill>
                  <a:schemeClr val="tx1"/>
                </a:solidFill>
                <a:effectLst/>
                <a:latin typeface="+mn-lt"/>
                <a:ea typeface="+mn-ea"/>
                <a:cs typeface="+mn-cs"/>
              </a:rPr>
              <a:t> while still hitting every performance SLA."</a:t>
            </a:r>
          </a:p>
          <a:p>
            <a:endParaRPr lang="en-IN" dirty="0"/>
          </a:p>
        </p:txBody>
      </p:sp>
      <p:sp>
        <p:nvSpPr>
          <p:cNvPr id="4" name="Slide Number Placeholder 3"/>
          <p:cNvSpPr>
            <a:spLocks noGrp="1"/>
          </p:cNvSpPr>
          <p:nvPr>
            <p:ph type="sldNum" sz="quarter" idx="5"/>
          </p:nvPr>
        </p:nvSpPr>
        <p:spPr/>
        <p:txBody>
          <a:bodyPr/>
          <a:lstStyle/>
          <a:p>
            <a:fld id="{D060679C-80C7-4E7D-9614-ABA41C5B2858}" type="slidenum">
              <a:rPr lang="en-US" smtClean="0"/>
              <a:t>12</a:t>
            </a:fld>
            <a:endParaRPr lang="en-US" dirty="0"/>
          </a:p>
        </p:txBody>
      </p:sp>
    </p:spTree>
    <p:extLst>
      <p:ext uri="{BB962C8B-B14F-4D97-AF65-F5344CB8AC3E}">
        <p14:creationId xmlns:p14="http://schemas.microsoft.com/office/powerpoint/2010/main" val="1510191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1" i="0" kern="1200" dirty="0">
                <a:solidFill>
                  <a:schemeClr val="tx1"/>
                </a:solidFill>
                <a:effectLst/>
                <a:latin typeface="+mn-lt"/>
                <a:ea typeface="+mn-ea"/>
                <a:cs typeface="+mn-cs"/>
              </a:rPr>
              <a:t> Conclusion</a:t>
            </a:r>
          </a:p>
          <a:p>
            <a:r>
              <a:rPr lang="en-US" sz="1200" b="0" i="0" kern="1200" dirty="0">
                <a:solidFill>
                  <a:schemeClr val="tx1"/>
                </a:solidFill>
                <a:effectLst/>
                <a:latin typeface="+mn-lt"/>
                <a:ea typeface="+mn-ea"/>
                <a:cs typeface="+mn-cs"/>
              </a:rPr>
              <a:t>"By merging Bicep, OIDC, and Secure Networking, we’ve created a blueprint that is </a:t>
            </a:r>
            <a:r>
              <a:rPr lang="en-US" sz="1200" b="1" i="0" kern="1200" dirty="0">
                <a:solidFill>
                  <a:schemeClr val="tx1"/>
                </a:solidFill>
                <a:effectLst/>
                <a:latin typeface="+mn-lt"/>
                <a:ea typeface="+mn-ea"/>
                <a:cs typeface="+mn-cs"/>
              </a:rPr>
              <a:t>secure by design and automated by default</a:t>
            </a:r>
            <a:r>
              <a:rPr lang="en-US" sz="1200" b="0" i="0" kern="1200" dirty="0">
                <a:solidFill>
                  <a:schemeClr val="tx1"/>
                </a:solidFill>
                <a:effectLst/>
                <a:latin typeface="+mn-lt"/>
                <a:ea typeface="+mn-ea"/>
                <a:cs typeface="+mn-cs"/>
              </a:rPr>
              <a:t>. This is now the gold standard for how my team deploys microservices. </a:t>
            </a:r>
            <a:r>
              <a:rPr lang="en-US" sz="1200" b="0" i="0" kern="1200">
                <a:solidFill>
                  <a:schemeClr val="tx1"/>
                </a:solidFill>
                <a:effectLst/>
                <a:latin typeface="+mn-lt"/>
                <a:ea typeface="+mn-ea"/>
                <a:cs typeface="+mn-cs"/>
              </a:rPr>
              <a:t>Thank you—I’d love to take your questions."</a:t>
            </a:r>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3" r:id="rId9"/>
    <p:sldLayoutId id="2147483653" r:id="rId10"/>
    <p:sldLayoutId id="2147483663" r:id="rId11"/>
    <p:sldLayoutId id="2147483665" r:id="rId12"/>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normAutofit fontScale="90000"/>
          </a:bodyPr>
          <a:lstStyle/>
          <a:p>
            <a:r>
              <a:rPr lang="en-US" b="0" dirty="0"/>
              <a:t>End-to-End Azure Automation: </a:t>
            </a:r>
            <a:r>
              <a:rPr lang="en-US" b="0" dirty="0" err="1"/>
              <a:t>IaC</a:t>
            </a:r>
            <a:r>
              <a:rPr lang="en-US" b="0" dirty="0"/>
              <a:t>, CI/CD, and Secure Networking.</a:t>
            </a:r>
            <a:r>
              <a:rPr lang="en-US" altLang="zh-CN" dirty="0"/>
              <a:t> </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5082808"/>
            <a:ext cx="4912598" cy="914400"/>
          </a:xfrm>
        </p:spPr>
        <p:txBody>
          <a:bodyPr/>
          <a:lstStyle/>
          <a:p>
            <a:r>
              <a:rPr lang="en-US" dirty="0"/>
              <a:t>Rohit Budhe</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
        <p:nvSpPr>
          <p:cNvPr id="2" name="Text Placeholder 8">
            <a:extLst>
              <a:ext uri="{FF2B5EF4-FFF2-40B4-BE49-F238E27FC236}">
                <a16:creationId xmlns:a16="http://schemas.microsoft.com/office/drawing/2014/main" id="{5D4A7BEC-E3D2-0014-3D69-4A27FE96880F}"/>
              </a:ext>
            </a:extLst>
          </p:cNvPr>
          <p:cNvSpPr txBox="1">
            <a:spLocks/>
          </p:cNvSpPr>
          <p:nvPr/>
        </p:nvSpPr>
        <p:spPr>
          <a:xfrm>
            <a:off x="1202593" y="4023360"/>
            <a:ext cx="4912598" cy="91440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500"/>
              </a:spcBef>
              <a:buFont typeface="Arial" panose="020B0604020202020204" pitchFamily="34" charset="0"/>
              <a:buNone/>
              <a:defRPr sz="2000" b="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1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9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Deploying a Scalable Multi-Tier App with Bicep &amp; GitHub Actions.</a:t>
            </a: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Project Goals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normAutofit fontScale="85000" lnSpcReduction="10000"/>
          </a:bodyPr>
          <a:lstStyle/>
          <a:p>
            <a:r>
              <a:rPr lang="en-US" b="1" dirty="0"/>
              <a:t>Problem:</a:t>
            </a:r>
            <a:r>
              <a:rPr lang="en-US" dirty="0"/>
              <a:t> Manual deployments are slow, error-prone, and lack environment parity.</a:t>
            </a:r>
          </a:p>
          <a:p>
            <a:r>
              <a:rPr lang="en-US" b="1" dirty="0"/>
              <a:t>Goal:</a:t>
            </a:r>
            <a:r>
              <a:rPr lang="en-US" dirty="0"/>
              <a:t> Move from "Click-Ops" to </a:t>
            </a:r>
            <a:r>
              <a:rPr lang="en-US" b="1" dirty="0"/>
              <a:t>Infrastructure as Code (</a:t>
            </a:r>
            <a:r>
              <a:rPr lang="en-US" b="1" dirty="0" err="1"/>
              <a:t>IaC</a:t>
            </a:r>
            <a:r>
              <a:rPr lang="en-US" b="1" dirty="0"/>
              <a:t>)</a:t>
            </a:r>
            <a:r>
              <a:rPr lang="en-US" dirty="0"/>
              <a:t>.</a:t>
            </a:r>
          </a:p>
          <a:p>
            <a:r>
              <a:rPr lang="en-US" b="1" dirty="0"/>
              <a:t>Key Tech Stack:</a:t>
            </a:r>
            <a:r>
              <a:rPr lang="en-US" dirty="0"/>
              <a:t> Azure App Service, SQL Managed Instance, Bicep, GitHub Actions.</a:t>
            </a:r>
          </a:p>
          <a:p>
            <a:endParaRPr lang="en-US" dirty="0"/>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company&#10;&#10;AI-generated content may be incorrect.">
            <a:extLst>
              <a:ext uri="{FF2B5EF4-FFF2-40B4-BE49-F238E27FC236}">
                <a16:creationId xmlns:a16="http://schemas.microsoft.com/office/drawing/2014/main" id="{4B8E1F7F-7794-AEF9-D6F2-1048CC60CD5F}"/>
              </a:ext>
            </a:extLst>
          </p:cNvPr>
          <p:cNvPicPr>
            <a:picLocks noChangeAspect="1"/>
          </p:cNvPicPr>
          <p:nvPr/>
        </p:nvPicPr>
        <p:blipFill>
          <a:blip r:embed="rId3"/>
          <a:srcRect r="2" b="2009"/>
          <a:stretch>
            <a:fillRect/>
          </a:stretch>
        </p:blipFill>
        <p:spPr>
          <a:xfrm>
            <a:off x="276447" y="1871330"/>
            <a:ext cx="11685181" cy="4163710"/>
          </a:xfrm>
          <a:prstGeom prst="rect">
            <a:avLst/>
          </a:prstGeom>
          <a:noFill/>
        </p:spPr>
      </p:pic>
      <p:sp>
        <p:nvSpPr>
          <p:cNvPr id="13" name="Slide Number Placeholder 3">
            <a:extLst>
              <a:ext uri="{FF2B5EF4-FFF2-40B4-BE49-F238E27FC236}">
                <a16:creationId xmlns:a16="http://schemas.microsoft.com/office/drawing/2014/main" id="{91EE59A9-56DF-E113-53FA-ACF23C6DCBAD}"/>
              </a:ext>
            </a:extLst>
          </p:cNvPr>
          <p:cNvSpPr>
            <a:spLocks noGrp="1"/>
          </p:cNvSpPr>
          <p:nvPr>
            <p:ph type="sldNum" sz="quarter" idx="12"/>
          </p:nvPr>
        </p:nvSpPr>
        <p:spPr>
          <a:xfrm>
            <a:off x="11194169" y="6217920"/>
            <a:ext cx="458592" cy="365125"/>
          </a:xfrm>
        </p:spPr>
        <p:txBody>
          <a:bodyPr anchor="ctr">
            <a:normAutofit/>
          </a:bodyPr>
          <a:lstStyle/>
          <a:p>
            <a:pPr>
              <a:spcAft>
                <a:spcPts val="600"/>
              </a:spcAft>
            </a:pPr>
            <a:fld id="{CBD12358-51D2-46B3-9BDE-DF29528B9454}" type="slidenum">
              <a:rPr lang="en-US" smtClean="0"/>
              <a:pPr>
                <a:spcAft>
                  <a:spcPts val="600"/>
                </a:spcAft>
              </a:pPr>
              <a:t>3</a:t>
            </a:fld>
            <a:endParaRPr lang="en-US"/>
          </a:p>
        </p:txBody>
      </p:sp>
      <p:sp>
        <p:nvSpPr>
          <p:cNvPr id="4" name="AutoShape 2">
            <a:extLst>
              <a:ext uri="{FF2B5EF4-FFF2-40B4-BE49-F238E27FC236}">
                <a16:creationId xmlns:a16="http://schemas.microsoft.com/office/drawing/2014/main" id="{468083F4-C5AF-DE49-C01D-D013EB18032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IN" dirty="0"/>
              <a:t>Identity &amp; Security (Service Connections)</a:t>
            </a:r>
            <a:endParaRPr lang="en-US" dirty="0"/>
          </a:p>
        </p:txBody>
      </p:sp>
      <p:sp>
        <p:nvSpPr>
          <p:cNvPr id="3" name="Content Placeholder 2" descr="App Registration &amp; Entra ID.&#10;mplementation: Using OIDC (Federated Credentials) vs. Client Secrets.">
            <a:extLst>
              <a:ext uri="{FF2B5EF4-FFF2-40B4-BE49-F238E27FC236}">
                <a16:creationId xmlns:a16="http://schemas.microsoft.com/office/drawing/2014/main" id="{A6A33159-D030-2F82-A142-F75940728319}"/>
              </a:ext>
            </a:extLst>
          </p:cNvPr>
          <p:cNvSpPr>
            <a:spLocks noGrp="1"/>
          </p:cNvSpPr>
          <p:nvPr>
            <p:ph idx="1"/>
          </p:nvPr>
        </p:nvSpPr>
        <p:spPr>
          <a:xfrm>
            <a:off x="6164969" y="2052453"/>
            <a:ext cx="5029200" cy="3383280"/>
          </a:xfrm>
          <a:noFill/>
        </p:spPr>
        <p:txBody>
          <a:bodyPr>
            <a:normAutofit/>
          </a:bodyPr>
          <a:lstStyle/>
          <a:p>
            <a:r>
              <a:rPr lang="en-US" dirty="0"/>
              <a:t>App Registration &amp; Entra ID.</a:t>
            </a:r>
          </a:p>
          <a:p>
            <a:pPr lvl="1"/>
            <a:r>
              <a:rPr lang="en-US" dirty="0"/>
              <a:t>Implementation: Using OIDC (Federated Credentials) vs. Client Secrets.</a:t>
            </a:r>
          </a:p>
          <a:p>
            <a:pPr lvl="1"/>
            <a:endParaRPr lang="en-US" dirty="0"/>
          </a:p>
          <a:p>
            <a:pPr marL="384048" lvl="1" indent="0">
              <a:buNone/>
            </a:pPr>
            <a:endParaRPr lang="en-US" dirty="0"/>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pic>
        <p:nvPicPr>
          <p:cNvPr id="6" name="Picture 5">
            <a:extLst>
              <a:ext uri="{FF2B5EF4-FFF2-40B4-BE49-F238E27FC236}">
                <a16:creationId xmlns:a16="http://schemas.microsoft.com/office/drawing/2014/main" id="{3C220F8B-B20D-D853-78FA-E499276B653C}"/>
              </a:ext>
            </a:extLst>
          </p:cNvPr>
          <p:cNvPicPr>
            <a:picLocks noChangeAspect="1"/>
          </p:cNvPicPr>
          <p:nvPr/>
        </p:nvPicPr>
        <p:blipFill>
          <a:blip r:embed="rId3"/>
          <a:stretch>
            <a:fillRect/>
          </a:stretch>
        </p:blipFill>
        <p:spPr>
          <a:xfrm>
            <a:off x="6299793" y="3068725"/>
            <a:ext cx="4759552" cy="3514320"/>
          </a:xfrm>
          <a:prstGeom prst="rect">
            <a:avLst/>
          </a:prstGeom>
        </p:spPr>
      </p:pic>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3BF06-634E-C9A2-6AA1-443262424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46B0C-9715-720E-7B2F-A8F61547A304}"/>
              </a:ext>
            </a:extLst>
          </p:cNvPr>
          <p:cNvSpPr>
            <a:spLocks noGrp="1"/>
          </p:cNvSpPr>
          <p:nvPr>
            <p:ph type="title"/>
          </p:nvPr>
        </p:nvSpPr>
        <p:spPr>
          <a:xfrm>
            <a:off x="914400" y="2487168"/>
            <a:ext cx="4572000" cy="3383280"/>
          </a:xfrm>
          <a:noFill/>
        </p:spPr>
        <p:txBody>
          <a:bodyPr anchor="t" anchorCtr="0">
            <a:noAutofit/>
          </a:bodyPr>
          <a:lstStyle/>
          <a:p>
            <a:r>
              <a:rPr lang="en-IN" dirty="0"/>
              <a:t>Infrastructure as Code (Bicep)</a:t>
            </a:r>
            <a:endParaRPr lang="en-US" dirty="0"/>
          </a:p>
        </p:txBody>
      </p:sp>
      <p:sp>
        <p:nvSpPr>
          <p:cNvPr id="3" name="Content Placeholder 2" descr="App Registration &amp; Entra ID.&#10;mplementation: Using OIDC (Federated Credentials) vs. Client Secrets.">
            <a:extLst>
              <a:ext uri="{FF2B5EF4-FFF2-40B4-BE49-F238E27FC236}">
                <a16:creationId xmlns:a16="http://schemas.microsoft.com/office/drawing/2014/main" id="{FF6CFFFB-8176-8680-8E77-5996CC1D8E01}"/>
              </a:ext>
            </a:extLst>
          </p:cNvPr>
          <p:cNvSpPr>
            <a:spLocks noGrp="1"/>
          </p:cNvSpPr>
          <p:nvPr>
            <p:ph idx="1"/>
          </p:nvPr>
        </p:nvSpPr>
        <p:spPr>
          <a:xfrm>
            <a:off x="6217920" y="2487168"/>
            <a:ext cx="5029200" cy="3383280"/>
          </a:xfrm>
          <a:noFill/>
        </p:spPr>
        <p:txBody>
          <a:bodyPr>
            <a:normAutofit/>
          </a:bodyPr>
          <a:lstStyle/>
          <a:p>
            <a:r>
              <a:rPr lang="en-IN" b="1" dirty="0"/>
              <a:t>Why Bicep?</a:t>
            </a:r>
            <a:r>
              <a:rPr lang="en-IN" dirty="0"/>
              <a:t> Native to Azure, modular, and no manual state management (unlike Terraform).</a:t>
            </a:r>
          </a:p>
          <a:p>
            <a:r>
              <a:rPr lang="en-IN" b="1" dirty="0"/>
              <a:t>Structure:</a:t>
            </a:r>
            <a:r>
              <a:rPr lang="en-IN" dirty="0"/>
              <a:t> Resource declarations, parameters for environments (Dev/Prod), and outputs.</a:t>
            </a:r>
          </a:p>
          <a:p>
            <a:pPr marL="384048" lvl="1" indent="0">
              <a:buNone/>
            </a:pPr>
            <a:endParaRPr lang="en-US" dirty="0"/>
          </a:p>
        </p:txBody>
      </p:sp>
      <p:sp>
        <p:nvSpPr>
          <p:cNvPr id="4" name="Slide Number Placeholder 3">
            <a:extLst>
              <a:ext uri="{FF2B5EF4-FFF2-40B4-BE49-F238E27FC236}">
                <a16:creationId xmlns:a16="http://schemas.microsoft.com/office/drawing/2014/main" id="{EC24864D-7A3F-B154-2AD7-3EBD831BF6A8}"/>
              </a:ext>
            </a:extLst>
          </p:cNvPr>
          <p:cNvSpPr>
            <a:spLocks noGrp="1"/>
          </p:cNvSpPr>
          <p:nvPr>
            <p:ph type="sldNum" sz="quarter" idx="12"/>
          </p:nvPr>
        </p:nvSpPr>
        <p:spPr/>
        <p:txBody>
          <a:bodyPr/>
          <a:lstStyle/>
          <a:p>
            <a:fld id="{69E57DC2-970A-4B3E-BB1C-7A09969E49DF}" type="slidenum">
              <a:rPr lang="en-US" smtClean="0"/>
              <a:t>5</a:t>
            </a:fld>
            <a:endParaRPr lang="en-US" dirty="0"/>
          </a:p>
        </p:txBody>
      </p:sp>
    </p:spTree>
    <p:extLst>
      <p:ext uri="{BB962C8B-B14F-4D97-AF65-F5344CB8AC3E}">
        <p14:creationId xmlns:p14="http://schemas.microsoft.com/office/powerpoint/2010/main" val="3021194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E793F-988E-F0B5-5058-3A69D8E4A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EB0450-D77C-A384-C245-873474CEA9F4}"/>
              </a:ext>
            </a:extLst>
          </p:cNvPr>
          <p:cNvSpPr>
            <a:spLocks noGrp="1"/>
          </p:cNvSpPr>
          <p:nvPr>
            <p:ph type="title"/>
          </p:nvPr>
        </p:nvSpPr>
        <p:spPr>
          <a:xfrm>
            <a:off x="312516" y="1838986"/>
            <a:ext cx="4572000" cy="3383280"/>
          </a:xfrm>
          <a:noFill/>
        </p:spPr>
        <p:txBody>
          <a:bodyPr anchor="t" anchorCtr="0">
            <a:noAutofit/>
          </a:bodyPr>
          <a:lstStyle/>
          <a:p>
            <a:r>
              <a:rPr lang="en-IN" dirty="0"/>
              <a:t>Network Foundation (</a:t>
            </a:r>
            <a:r>
              <a:rPr lang="en-IN" dirty="0" err="1"/>
              <a:t>VNet</a:t>
            </a:r>
            <a:r>
              <a:rPr lang="en-IN" dirty="0"/>
              <a:t> &amp; Subnets)</a:t>
            </a:r>
            <a:endParaRPr lang="en-US" dirty="0"/>
          </a:p>
        </p:txBody>
      </p:sp>
      <p:sp>
        <p:nvSpPr>
          <p:cNvPr id="3" name="Content Placeholder 2" descr="App Registration &amp; Entra ID.&#10;mplementation: Using OIDC (Federated Credentials) vs. Client Secrets.">
            <a:extLst>
              <a:ext uri="{FF2B5EF4-FFF2-40B4-BE49-F238E27FC236}">
                <a16:creationId xmlns:a16="http://schemas.microsoft.com/office/drawing/2014/main" id="{21504115-4013-EE06-E59B-83502CD9846C}"/>
              </a:ext>
            </a:extLst>
          </p:cNvPr>
          <p:cNvSpPr>
            <a:spLocks noGrp="1"/>
          </p:cNvSpPr>
          <p:nvPr>
            <p:ph idx="1"/>
          </p:nvPr>
        </p:nvSpPr>
        <p:spPr>
          <a:xfrm>
            <a:off x="6096000" y="1737360"/>
            <a:ext cx="5029200" cy="3383280"/>
          </a:xfrm>
          <a:noFill/>
        </p:spPr>
        <p:txBody>
          <a:bodyPr>
            <a:normAutofit/>
          </a:bodyPr>
          <a:lstStyle/>
          <a:p>
            <a:r>
              <a:rPr lang="en-US" b="1" dirty="0"/>
              <a:t>Segmentation:</a:t>
            </a:r>
            <a:r>
              <a:rPr lang="en-US" dirty="0"/>
              <a:t> Isolating the Database from the public internet. </a:t>
            </a:r>
            <a:r>
              <a:rPr lang="en-US" dirty="0">
                <a:solidFill>
                  <a:schemeClr val="tx1"/>
                </a:solidFill>
                <a:highlight>
                  <a:srgbClr val="FFFF00"/>
                </a:highlight>
              </a:rPr>
              <a:t>(e.g., 10.0.0.0/16) </a:t>
            </a:r>
            <a:endParaRPr lang="en-US" dirty="0">
              <a:highlight>
                <a:srgbClr val="FFFF00"/>
              </a:highlight>
            </a:endParaRPr>
          </a:p>
          <a:p>
            <a:r>
              <a:rPr lang="en-US" b="1" dirty="0"/>
              <a:t>Technical Detail:</a:t>
            </a:r>
            <a:endParaRPr lang="en-US" dirty="0"/>
          </a:p>
          <a:p>
            <a:pPr lvl="1"/>
            <a:r>
              <a:rPr lang="en-US" dirty="0" err="1"/>
              <a:t>VNet</a:t>
            </a:r>
            <a:r>
              <a:rPr lang="en-US" dirty="0"/>
              <a:t> Integration for App Services.</a:t>
            </a:r>
          </a:p>
        </p:txBody>
      </p:sp>
      <p:sp>
        <p:nvSpPr>
          <p:cNvPr id="4" name="Slide Number Placeholder 3">
            <a:extLst>
              <a:ext uri="{FF2B5EF4-FFF2-40B4-BE49-F238E27FC236}">
                <a16:creationId xmlns:a16="http://schemas.microsoft.com/office/drawing/2014/main" id="{FCCE1B3A-1525-ED7C-B9DC-40CECCA28566}"/>
              </a:ext>
            </a:extLst>
          </p:cNvPr>
          <p:cNvSpPr>
            <a:spLocks noGrp="1"/>
          </p:cNvSpPr>
          <p:nvPr>
            <p:ph type="sldNum" sz="quarter" idx="12"/>
          </p:nvPr>
        </p:nvSpPr>
        <p:spPr/>
        <p:txBody>
          <a:bodyPr/>
          <a:lstStyle/>
          <a:p>
            <a:fld id="{69E57DC2-970A-4B3E-BB1C-7A09969E49DF}" type="slidenum">
              <a:rPr lang="en-US" smtClean="0"/>
              <a:t>6</a:t>
            </a:fld>
            <a:endParaRPr lang="en-US" dirty="0"/>
          </a:p>
        </p:txBody>
      </p:sp>
      <p:pic>
        <p:nvPicPr>
          <p:cNvPr id="6" name="Picture 5">
            <a:extLst>
              <a:ext uri="{FF2B5EF4-FFF2-40B4-BE49-F238E27FC236}">
                <a16:creationId xmlns:a16="http://schemas.microsoft.com/office/drawing/2014/main" id="{D8FCCCEC-FFA1-6B8B-9DB3-175CD8B1F673}"/>
              </a:ext>
            </a:extLst>
          </p:cNvPr>
          <p:cNvPicPr>
            <a:picLocks noChangeAspect="1"/>
          </p:cNvPicPr>
          <p:nvPr/>
        </p:nvPicPr>
        <p:blipFill>
          <a:blip r:embed="rId3"/>
          <a:stretch>
            <a:fillRect/>
          </a:stretch>
        </p:blipFill>
        <p:spPr>
          <a:xfrm>
            <a:off x="2559416" y="3429001"/>
            <a:ext cx="9632584" cy="3429000"/>
          </a:xfrm>
          <a:prstGeom prst="rect">
            <a:avLst/>
          </a:prstGeom>
        </p:spPr>
      </p:pic>
    </p:spTree>
    <p:extLst>
      <p:ext uri="{BB962C8B-B14F-4D97-AF65-F5344CB8AC3E}">
        <p14:creationId xmlns:p14="http://schemas.microsoft.com/office/powerpoint/2010/main" val="1720705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7318C-83CA-2870-87F9-DF74F0D1C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5B6C7-CBC6-BBC9-764C-791D90D81141}"/>
              </a:ext>
            </a:extLst>
          </p:cNvPr>
          <p:cNvSpPr>
            <a:spLocks noGrp="1"/>
          </p:cNvSpPr>
          <p:nvPr>
            <p:ph type="title"/>
          </p:nvPr>
        </p:nvSpPr>
        <p:spPr>
          <a:xfrm>
            <a:off x="23150" y="2093629"/>
            <a:ext cx="4572000" cy="3383280"/>
          </a:xfrm>
          <a:noFill/>
        </p:spPr>
        <p:txBody>
          <a:bodyPr anchor="t" anchorCtr="0">
            <a:noAutofit/>
          </a:bodyPr>
          <a:lstStyle/>
          <a:p>
            <a:r>
              <a:rPr lang="en-US" dirty="0"/>
              <a:t>Hardening the Network (NSGs &amp; Route Tables)</a:t>
            </a:r>
          </a:p>
        </p:txBody>
      </p:sp>
      <p:sp>
        <p:nvSpPr>
          <p:cNvPr id="3" name="Content Placeholder 2" descr="App Registration &amp; Entra ID.&#10;mplementation: Using OIDC (Federated Credentials) vs. Client Secrets.">
            <a:extLst>
              <a:ext uri="{FF2B5EF4-FFF2-40B4-BE49-F238E27FC236}">
                <a16:creationId xmlns:a16="http://schemas.microsoft.com/office/drawing/2014/main" id="{F6DA9631-7002-91E3-4C24-ACDB5A90D6FB}"/>
              </a:ext>
            </a:extLst>
          </p:cNvPr>
          <p:cNvSpPr>
            <a:spLocks noGrp="1"/>
          </p:cNvSpPr>
          <p:nvPr>
            <p:ph idx="1"/>
          </p:nvPr>
        </p:nvSpPr>
        <p:spPr>
          <a:xfrm>
            <a:off x="6096000" y="1737360"/>
            <a:ext cx="5029200" cy="3383280"/>
          </a:xfrm>
          <a:noFill/>
        </p:spPr>
        <p:txBody>
          <a:bodyPr>
            <a:normAutofit/>
          </a:bodyPr>
          <a:lstStyle/>
          <a:p>
            <a:r>
              <a:rPr lang="en-US" b="1" dirty="0"/>
              <a:t>Security:</a:t>
            </a:r>
            <a:r>
              <a:rPr lang="en-US" dirty="0"/>
              <a:t> How you locked down the SQL port (1433) to </a:t>
            </a:r>
            <a:r>
              <a:rPr lang="en-US" i="1" dirty="0"/>
              <a:t>only</a:t>
            </a:r>
            <a:r>
              <a:rPr lang="en-US" dirty="0"/>
              <a:t> accept traffic from the App Service subnet.</a:t>
            </a:r>
          </a:p>
          <a:p>
            <a:r>
              <a:rPr lang="en-US" b="1" dirty="0"/>
              <a:t>Routing:</a:t>
            </a:r>
            <a:r>
              <a:rPr lang="en-US" dirty="0"/>
              <a:t> Using Route Tables/UDRs for traffic flow control.</a:t>
            </a:r>
          </a:p>
          <a:p>
            <a:endParaRPr lang="en-US" dirty="0"/>
          </a:p>
        </p:txBody>
      </p:sp>
      <p:sp>
        <p:nvSpPr>
          <p:cNvPr id="4" name="Slide Number Placeholder 3">
            <a:extLst>
              <a:ext uri="{FF2B5EF4-FFF2-40B4-BE49-F238E27FC236}">
                <a16:creationId xmlns:a16="http://schemas.microsoft.com/office/drawing/2014/main" id="{3110206B-3B9B-9D2A-FA0B-1FF6A28F6CE4}"/>
              </a:ext>
            </a:extLst>
          </p:cNvPr>
          <p:cNvSpPr>
            <a:spLocks noGrp="1"/>
          </p:cNvSpPr>
          <p:nvPr>
            <p:ph type="sldNum" sz="quarter" idx="12"/>
          </p:nvPr>
        </p:nvSpPr>
        <p:spPr/>
        <p:txBody>
          <a:bodyPr/>
          <a:lstStyle/>
          <a:p>
            <a:fld id="{69E57DC2-970A-4B3E-BB1C-7A09969E49DF}" type="slidenum">
              <a:rPr lang="en-US" smtClean="0"/>
              <a:t>7</a:t>
            </a:fld>
            <a:endParaRPr lang="en-US" dirty="0"/>
          </a:p>
        </p:txBody>
      </p:sp>
      <p:pic>
        <p:nvPicPr>
          <p:cNvPr id="6" name="Picture 5">
            <a:extLst>
              <a:ext uri="{FF2B5EF4-FFF2-40B4-BE49-F238E27FC236}">
                <a16:creationId xmlns:a16="http://schemas.microsoft.com/office/drawing/2014/main" id="{331D9CFC-2BBE-ED7B-F501-2D894132A31E}"/>
              </a:ext>
            </a:extLst>
          </p:cNvPr>
          <p:cNvPicPr>
            <a:picLocks noChangeAspect="1"/>
          </p:cNvPicPr>
          <p:nvPr/>
        </p:nvPicPr>
        <p:blipFill>
          <a:blip r:embed="rId3"/>
          <a:stretch>
            <a:fillRect/>
          </a:stretch>
        </p:blipFill>
        <p:spPr>
          <a:xfrm>
            <a:off x="3912243" y="3321933"/>
            <a:ext cx="8279757" cy="3536067"/>
          </a:xfrm>
          <a:prstGeom prst="rect">
            <a:avLst/>
          </a:prstGeom>
        </p:spPr>
      </p:pic>
    </p:spTree>
    <p:extLst>
      <p:ext uri="{BB962C8B-B14F-4D97-AF65-F5344CB8AC3E}">
        <p14:creationId xmlns:p14="http://schemas.microsoft.com/office/powerpoint/2010/main" val="3060278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IN" dirty="0"/>
              <a:t>The Automation Pipeline (CI/CD)</a:t>
            </a:r>
            <a:endParaRPr lang="en-US" dirty="0"/>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5852160" y="731520"/>
            <a:ext cx="5486400" cy="1737360"/>
          </a:xfrm>
        </p:spPr>
        <p:txBody>
          <a:bodyPr/>
          <a:lstStyle/>
          <a:p>
            <a:r>
              <a:rPr lang="en-IN" b="1" dirty="0"/>
              <a:t>Tool:</a:t>
            </a:r>
            <a:r>
              <a:rPr lang="en-IN" dirty="0"/>
              <a:t> GitHub Actions.</a:t>
            </a:r>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149822549"/>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1246021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497840" y="769587"/>
            <a:ext cx="3931920" cy="2103120"/>
          </a:xfrm>
        </p:spPr>
        <p:txBody>
          <a:bodyPr anchor="b" anchorCtr="0"/>
          <a:lstStyle/>
          <a:p>
            <a:r>
              <a:rPr lang="en-US" altLang="zh-CN" dirty="0"/>
              <a:t>App Services &amp; SQL Instance</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497840" y="3159760"/>
            <a:ext cx="3931920" cy="2651760"/>
          </a:xfrm>
        </p:spPr>
        <p:txBody>
          <a:bodyPr>
            <a:normAutofit fontScale="85000" lnSpcReduction="10000"/>
          </a:bodyPr>
          <a:lstStyle/>
          <a:p>
            <a:r>
              <a:rPr lang="en-US" b="1" dirty="0"/>
              <a:t>Technical Detail:</a:t>
            </a:r>
            <a:endParaRPr lang="en-US" dirty="0"/>
          </a:p>
          <a:p>
            <a:pPr lvl="1"/>
            <a:r>
              <a:rPr lang="en-US" b="1" dirty="0"/>
              <a:t>Frontend:</a:t>
            </a:r>
            <a:r>
              <a:rPr lang="en-US" dirty="0"/>
              <a:t> Hosted as static files within the App Service (or separate Static Web App).</a:t>
            </a:r>
          </a:p>
          <a:p>
            <a:pPr lvl="1"/>
            <a:r>
              <a:rPr lang="en-US" b="1" dirty="0"/>
              <a:t>Backend:</a:t>
            </a:r>
            <a:r>
              <a:rPr lang="en-US" dirty="0"/>
              <a:t> .NET Core API handling CRUD logic.</a:t>
            </a:r>
          </a:p>
          <a:p>
            <a:pPr lvl="1"/>
            <a:r>
              <a:rPr lang="en-US" b="1" dirty="0"/>
              <a:t>The "Secret Sauce":</a:t>
            </a:r>
            <a:r>
              <a:rPr lang="en-US" dirty="0"/>
              <a:t> The .NET app uses a private connection string to talk to SQL MI, so the database is never exposed to the internet.</a:t>
            </a:r>
          </a:p>
        </p:txBody>
      </p:sp>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9</a:t>
            </a:fld>
            <a:endParaRPr lang="en-US" altLang="zh-CN" noProof="0" dirty="0"/>
          </a:p>
        </p:txBody>
      </p:sp>
      <p:pic>
        <p:nvPicPr>
          <p:cNvPr id="2056" name="Picture 8" descr="Angular azure deployment">
            <a:extLst>
              <a:ext uri="{FF2B5EF4-FFF2-40B4-BE49-F238E27FC236}">
                <a16:creationId xmlns:a16="http://schemas.microsoft.com/office/drawing/2014/main" id="{577FB935-2991-5A0F-C381-6B87099F56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761" y="769587"/>
            <a:ext cx="7345680" cy="562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54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B5835-731C-9F1B-16AB-47D77F0BE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286BF-9851-98C2-37C7-B61C11D4597A}"/>
              </a:ext>
            </a:extLst>
          </p:cNvPr>
          <p:cNvSpPr>
            <a:spLocks noGrp="1"/>
          </p:cNvSpPr>
          <p:nvPr>
            <p:ph type="title"/>
          </p:nvPr>
        </p:nvSpPr>
        <p:spPr>
          <a:xfrm>
            <a:off x="914400" y="2487168"/>
            <a:ext cx="4572000" cy="3383280"/>
          </a:xfrm>
          <a:noFill/>
        </p:spPr>
        <p:txBody>
          <a:bodyPr anchor="t" anchorCtr="0">
            <a:noAutofit/>
          </a:bodyPr>
          <a:lstStyle/>
          <a:p>
            <a:r>
              <a:rPr lang="en-IN" dirty="0"/>
              <a:t>Database Schema &amp; DACPAC</a:t>
            </a:r>
            <a:endParaRPr lang="en-US" dirty="0"/>
          </a:p>
        </p:txBody>
      </p:sp>
      <p:sp>
        <p:nvSpPr>
          <p:cNvPr id="3" name="Content Placeholder 2" descr="App Registration &amp; Entra ID.&#10;mplementation: Using OIDC (Federated Credentials) vs. Client Secrets.">
            <a:extLst>
              <a:ext uri="{FF2B5EF4-FFF2-40B4-BE49-F238E27FC236}">
                <a16:creationId xmlns:a16="http://schemas.microsoft.com/office/drawing/2014/main" id="{F717FDFA-D3EC-E6D6-F3DC-E3A497738D0F}"/>
              </a:ext>
            </a:extLst>
          </p:cNvPr>
          <p:cNvSpPr>
            <a:spLocks noGrp="1"/>
          </p:cNvSpPr>
          <p:nvPr>
            <p:ph idx="1"/>
          </p:nvPr>
        </p:nvSpPr>
        <p:spPr>
          <a:xfrm>
            <a:off x="6217920" y="2487168"/>
            <a:ext cx="5029200" cy="3383280"/>
          </a:xfrm>
          <a:noFill/>
        </p:spPr>
        <p:txBody>
          <a:bodyPr>
            <a:normAutofit/>
          </a:bodyPr>
          <a:lstStyle/>
          <a:p>
            <a:r>
              <a:rPr lang="en-IN" dirty="0"/>
              <a:t>Automated Database Schema Evolution.</a:t>
            </a:r>
          </a:p>
          <a:p>
            <a:r>
              <a:rPr lang="en-US" b="1" dirty="0"/>
              <a:t>Implementation: </a:t>
            </a:r>
            <a:r>
              <a:rPr lang="en-US" dirty="0"/>
              <a:t>Using </a:t>
            </a:r>
            <a:r>
              <a:rPr lang="en-US" b="1" dirty="0"/>
              <a:t>DACPAC</a:t>
            </a:r>
            <a:r>
              <a:rPr lang="en-US" dirty="0"/>
              <a:t> in the YAML pipeline.</a:t>
            </a:r>
          </a:p>
        </p:txBody>
      </p:sp>
      <p:sp>
        <p:nvSpPr>
          <p:cNvPr id="4" name="Slide Number Placeholder 3">
            <a:extLst>
              <a:ext uri="{FF2B5EF4-FFF2-40B4-BE49-F238E27FC236}">
                <a16:creationId xmlns:a16="http://schemas.microsoft.com/office/drawing/2014/main" id="{4BC9E7DB-D31D-5D5C-0E27-F3E7D8091184}"/>
              </a:ext>
            </a:extLst>
          </p:cNvPr>
          <p:cNvSpPr>
            <a:spLocks noGrp="1"/>
          </p:cNvSpPr>
          <p:nvPr>
            <p:ph type="sldNum" sz="quarter" idx="12"/>
          </p:nvPr>
        </p:nvSpPr>
        <p:spPr/>
        <p:txBody>
          <a:bodyPr/>
          <a:lstStyle/>
          <a:p>
            <a:fld id="{69E57DC2-970A-4B3E-BB1C-7A09969E49DF}" type="slidenum">
              <a:rPr lang="en-US" smtClean="0"/>
              <a:t>10</a:t>
            </a:fld>
            <a:endParaRPr lang="en-US" dirty="0"/>
          </a:p>
        </p:txBody>
      </p:sp>
    </p:spTree>
    <p:extLst>
      <p:ext uri="{BB962C8B-B14F-4D97-AF65-F5344CB8AC3E}">
        <p14:creationId xmlns:p14="http://schemas.microsoft.com/office/powerpoint/2010/main" val="428460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335D2-A13C-726C-B918-2DDC99287B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38C4E-DCDB-CB2B-BB66-79D706A8AF04}"/>
              </a:ext>
            </a:extLst>
          </p:cNvPr>
          <p:cNvSpPr>
            <a:spLocks noGrp="1"/>
          </p:cNvSpPr>
          <p:nvPr>
            <p:ph type="title"/>
          </p:nvPr>
        </p:nvSpPr>
        <p:spPr>
          <a:xfrm>
            <a:off x="914400" y="2487168"/>
            <a:ext cx="4572000" cy="3383280"/>
          </a:xfrm>
          <a:noFill/>
        </p:spPr>
        <p:txBody>
          <a:bodyPr anchor="t" anchorCtr="0">
            <a:noAutofit/>
          </a:bodyPr>
          <a:lstStyle/>
          <a:p>
            <a:r>
              <a:rPr lang="en-IN" dirty="0"/>
              <a:t>Monitoring &amp; Observability</a:t>
            </a:r>
            <a:endParaRPr lang="en-US" dirty="0"/>
          </a:p>
        </p:txBody>
      </p:sp>
      <p:sp>
        <p:nvSpPr>
          <p:cNvPr id="3" name="Content Placeholder 2" descr="App Registration &amp; Entra ID.&#10;mplementation: Using OIDC (Federated Credentials) vs. Client Secrets.">
            <a:extLst>
              <a:ext uri="{FF2B5EF4-FFF2-40B4-BE49-F238E27FC236}">
                <a16:creationId xmlns:a16="http://schemas.microsoft.com/office/drawing/2014/main" id="{13FDE3B7-D3C9-43B9-E630-3E256D3C1CA4}"/>
              </a:ext>
            </a:extLst>
          </p:cNvPr>
          <p:cNvSpPr>
            <a:spLocks noGrp="1"/>
          </p:cNvSpPr>
          <p:nvPr>
            <p:ph idx="1"/>
          </p:nvPr>
        </p:nvSpPr>
        <p:spPr>
          <a:xfrm>
            <a:off x="6217920" y="2487168"/>
            <a:ext cx="5029200" cy="3383280"/>
          </a:xfrm>
          <a:noFill/>
        </p:spPr>
        <p:txBody>
          <a:bodyPr>
            <a:normAutofit/>
          </a:bodyPr>
          <a:lstStyle/>
          <a:p>
            <a:r>
              <a:rPr lang="en-US" b="1" dirty="0"/>
              <a:t>Tool:</a:t>
            </a:r>
            <a:r>
              <a:rPr lang="en-US" dirty="0"/>
              <a:t> Azure Application Insights.</a:t>
            </a:r>
          </a:p>
          <a:p>
            <a:pPr lvl="1"/>
            <a:r>
              <a:rPr lang="en-US" b="1" dirty="0"/>
              <a:t>Value:</a:t>
            </a:r>
            <a:r>
              <a:rPr lang="en-US" dirty="0"/>
              <a:t> Real-time tracking of request rates, failure rates, and performance bottlenecks without touching the code.</a:t>
            </a:r>
          </a:p>
        </p:txBody>
      </p:sp>
      <p:sp>
        <p:nvSpPr>
          <p:cNvPr id="4" name="Slide Number Placeholder 3">
            <a:extLst>
              <a:ext uri="{FF2B5EF4-FFF2-40B4-BE49-F238E27FC236}">
                <a16:creationId xmlns:a16="http://schemas.microsoft.com/office/drawing/2014/main" id="{1A26A9BB-4DD2-D2B5-E1F6-FCA3C11C31A1}"/>
              </a:ext>
            </a:extLst>
          </p:cNvPr>
          <p:cNvSpPr>
            <a:spLocks noGrp="1"/>
          </p:cNvSpPr>
          <p:nvPr>
            <p:ph type="sldNum" sz="quarter" idx="12"/>
          </p:nvPr>
        </p:nvSpPr>
        <p:spPr/>
        <p:txBody>
          <a:bodyPr/>
          <a:lstStyle/>
          <a:p>
            <a:fld id="{69E57DC2-970A-4B3E-BB1C-7A09969E49DF}" type="slidenum">
              <a:rPr lang="en-US" smtClean="0"/>
              <a:t>11</a:t>
            </a:fld>
            <a:endParaRPr lang="en-US" dirty="0"/>
          </a:p>
        </p:txBody>
      </p:sp>
    </p:spTree>
    <p:extLst>
      <p:ext uri="{BB962C8B-B14F-4D97-AF65-F5344CB8AC3E}">
        <p14:creationId xmlns:p14="http://schemas.microsoft.com/office/powerpoint/2010/main" val="1849424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41CB7-6A4D-019F-0231-7092509DB1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4C1F7-5EC9-31FA-CA1E-E04035B1D0EC}"/>
              </a:ext>
            </a:extLst>
          </p:cNvPr>
          <p:cNvSpPr>
            <a:spLocks noGrp="1"/>
          </p:cNvSpPr>
          <p:nvPr>
            <p:ph type="title"/>
          </p:nvPr>
        </p:nvSpPr>
        <p:spPr>
          <a:xfrm>
            <a:off x="914400" y="2487168"/>
            <a:ext cx="4572000" cy="3383280"/>
          </a:xfrm>
          <a:noFill/>
        </p:spPr>
        <p:txBody>
          <a:bodyPr anchor="t" anchorCtr="0">
            <a:noAutofit/>
          </a:bodyPr>
          <a:lstStyle/>
          <a:p>
            <a:r>
              <a:rPr lang="en-IN" dirty="0"/>
              <a:t>Challenges</a:t>
            </a:r>
            <a:endParaRPr lang="en-US" dirty="0"/>
          </a:p>
        </p:txBody>
      </p:sp>
      <p:sp>
        <p:nvSpPr>
          <p:cNvPr id="3" name="Content Placeholder 2" descr="App Registration &amp; Entra ID.&#10;mplementation: Using OIDC (Federated Credentials) vs. Client Secrets.">
            <a:extLst>
              <a:ext uri="{FF2B5EF4-FFF2-40B4-BE49-F238E27FC236}">
                <a16:creationId xmlns:a16="http://schemas.microsoft.com/office/drawing/2014/main" id="{6D9C0B29-E672-967D-D4CC-97CA710B7F61}"/>
              </a:ext>
            </a:extLst>
          </p:cNvPr>
          <p:cNvSpPr>
            <a:spLocks noGrp="1"/>
          </p:cNvSpPr>
          <p:nvPr>
            <p:ph idx="1"/>
          </p:nvPr>
        </p:nvSpPr>
        <p:spPr>
          <a:xfrm>
            <a:off x="6217920" y="2487168"/>
            <a:ext cx="5029200" cy="3383280"/>
          </a:xfrm>
          <a:noFill/>
        </p:spPr>
        <p:txBody>
          <a:bodyPr>
            <a:normAutofit/>
          </a:bodyPr>
          <a:lstStyle/>
          <a:p>
            <a:r>
              <a:rPr lang="en-US" i="1" dirty="0"/>
              <a:t> Fixes:</a:t>
            </a:r>
            <a:endParaRPr lang="en-US" dirty="0"/>
          </a:p>
          <a:p>
            <a:pPr lvl="1"/>
            <a:r>
              <a:rPr lang="en-US" b="1" dirty="0"/>
              <a:t>Angular Build:</a:t>
            </a:r>
            <a:r>
              <a:rPr lang="en-US" dirty="0"/>
              <a:t> Combined Build &amp; Deploy to fix the </a:t>
            </a:r>
            <a:r>
              <a:rPr lang="en-US" dirty="0" err="1"/>
              <a:t>dist</a:t>
            </a:r>
            <a:r>
              <a:rPr lang="en-US" dirty="0"/>
              <a:t>/ folder persistence issue.</a:t>
            </a:r>
          </a:p>
          <a:p>
            <a:pPr lvl="1"/>
            <a:r>
              <a:rPr lang="en-US" b="1" dirty="0"/>
              <a:t>Cost Control:</a:t>
            </a:r>
            <a:r>
              <a:rPr lang="en-US" dirty="0"/>
              <a:t> Optimizing SQL Instance SKUs to avoid budget overruns.</a:t>
            </a:r>
          </a:p>
          <a:p>
            <a:pPr lvl="1"/>
            <a:r>
              <a:rPr lang="en-US" b="1" dirty="0" err="1"/>
              <a:t>VNet</a:t>
            </a:r>
            <a:r>
              <a:rPr lang="en-US" b="1" dirty="0"/>
              <a:t> Logic:</a:t>
            </a:r>
            <a:r>
              <a:rPr lang="en-US" dirty="0"/>
              <a:t> Solving the IP reservation mishap.</a:t>
            </a:r>
          </a:p>
        </p:txBody>
      </p:sp>
      <p:sp>
        <p:nvSpPr>
          <p:cNvPr id="4" name="Slide Number Placeholder 3">
            <a:extLst>
              <a:ext uri="{FF2B5EF4-FFF2-40B4-BE49-F238E27FC236}">
                <a16:creationId xmlns:a16="http://schemas.microsoft.com/office/drawing/2014/main" id="{BEB81745-1706-4C0E-02C9-85E90379C160}"/>
              </a:ext>
            </a:extLst>
          </p:cNvPr>
          <p:cNvSpPr>
            <a:spLocks noGrp="1"/>
          </p:cNvSpPr>
          <p:nvPr>
            <p:ph type="sldNum" sz="quarter" idx="12"/>
          </p:nvPr>
        </p:nvSpPr>
        <p:spPr/>
        <p:txBody>
          <a:bodyPr/>
          <a:lstStyle/>
          <a:p>
            <a:fld id="{69E57DC2-970A-4B3E-BB1C-7A09969E49DF}" type="slidenum">
              <a:rPr lang="en-US" smtClean="0"/>
              <a:t>12</a:t>
            </a:fld>
            <a:endParaRPr lang="en-US" dirty="0"/>
          </a:p>
        </p:txBody>
      </p:sp>
    </p:spTree>
    <p:extLst>
      <p:ext uri="{BB962C8B-B14F-4D97-AF65-F5344CB8AC3E}">
        <p14:creationId xmlns:p14="http://schemas.microsoft.com/office/powerpoint/2010/main" val="582009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Rohit Budhe</a:t>
            </a:r>
          </a:p>
          <a:p>
            <a:pPr lvl="0"/>
            <a:r>
              <a:rPr lang="en-US" dirty="0"/>
              <a:t>rohitbudheofficial@gmail.com</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C8DB3C62-858A-4A01-AFEF-21E0BB8CE262}">
  <ds:schemaRefs>
    <ds:schemaRef ds:uri="http://purl.org/dc/terms/"/>
    <ds:schemaRef ds:uri="http://purl.org/dc/dcmitype/"/>
    <ds:schemaRef ds:uri="http://schemas.microsoft.com/office/2006/documentManagement/types"/>
    <ds:schemaRef ds:uri="230e9df3-be65-4c73-a93b-d1236ebd677e"/>
    <ds:schemaRef ds:uri="71af3243-3dd4-4a8d-8c0d-dd76da1f02a5"/>
    <ds:schemaRef ds:uri="http://schemas.microsoft.com/office/2006/metadata/properties"/>
    <ds:schemaRef ds:uri="16c05727-aa75-4e4a-9b5f-8a80a1165891"/>
    <ds:schemaRef ds:uri="http://schemas.microsoft.com/office/infopath/2007/PartnerControls"/>
    <ds:schemaRef ds:uri="http://schemas.openxmlformats.org/package/2006/metadata/core-properties"/>
    <ds:schemaRef ds:uri="http://schemas.microsoft.com/sharepoint/v3"/>
    <ds:schemaRef ds:uri="http://www.w3.org/XML/1998/namespace"/>
    <ds:schemaRef ds:uri="http://purl.org/dc/elements/1.1/"/>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{7295EBB5-9EDD-4399-B305-1DC42AC11AD7}TF63aebcec-8e39-4664-940a-dd6c2f00c54d020a9832_win32-3cdd3ee32610</Template>
  <TotalTime>2847</TotalTime>
  <Words>2074</Words>
  <Application>Microsoft Office PowerPoint</Application>
  <PresentationFormat>Widescreen</PresentationFormat>
  <Paragraphs>147</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等线</vt:lpstr>
      <vt:lpstr>Abadi</vt:lpstr>
      <vt:lpstr>Arial</vt:lpstr>
      <vt:lpstr>Calibri</vt:lpstr>
      <vt:lpstr>Posterama</vt:lpstr>
      <vt:lpstr>Posterama Text SemiBold</vt:lpstr>
      <vt:lpstr>Custom</vt:lpstr>
      <vt:lpstr>End-to-End Azure Automation: IaC, CI/CD, and Secure Networking. </vt:lpstr>
      <vt:lpstr>Project Goals </vt:lpstr>
      <vt:lpstr>PowerPoint Presentation</vt:lpstr>
      <vt:lpstr>Identity &amp; Security (Service Connections)</vt:lpstr>
      <vt:lpstr>Infrastructure as Code (Bicep)</vt:lpstr>
      <vt:lpstr>Network Foundation (VNet &amp; Subnets)</vt:lpstr>
      <vt:lpstr>Hardening the Network (NSGs &amp; Route Tables)</vt:lpstr>
      <vt:lpstr>The Automation Pipeline (CI/CD)</vt:lpstr>
      <vt:lpstr>App Services &amp; SQL Instance</vt:lpstr>
      <vt:lpstr>Database Schema &amp; DACPAC</vt:lpstr>
      <vt:lpstr>Monitoring &amp; Observability</vt:lpstr>
      <vt:lpstr>Challenges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Budhe, Rohit Shamrao</dc:creator>
  <cp:lastModifiedBy>Budhe, Rohit Shamrao</cp:lastModifiedBy>
  <cp:revision>2</cp:revision>
  <dcterms:created xsi:type="dcterms:W3CDTF">2026-03-13T16:58:49Z</dcterms:created>
  <dcterms:modified xsi:type="dcterms:W3CDTF">2026-03-15T17:27:36Z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